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B3A63">
              <a:alpha val="60000"/>
            </a:srgbClr>
          </a:solidFill>
          <a:ln/>
        </p:spPr>
      </p:sp>
      <p:sp>
        <p:nvSpPr>
          <p:cNvPr id="3" name="Shape 1"/>
          <p:cNvSpPr/>
          <p:nvPr/>
        </p:nvSpPr>
        <p:spPr>
          <a:xfrm>
            <a:off x="10607040" y="4206240"/>
            <a:ext cx="3108960" cy="3108960"/>
          </a:xfrm>
          <a:prstGeom prst="ellipse">
            <a:avLst/>
          </a:prstGeom>
          <a:solidFill>
            <a:srgbClr val="223E68">
              <a:alpha val="55000"/>
            </a:srgbClr>
          </a:solidFill>
          <a:ln/>
        </p:spPr>
      </p:sp>
      <p:sp>
        <p:nvSpPr>
          <p:cNvPr id="4" name="Text 2"/>
          <p:cNvSpPr/>
          <p:nvPr/>
        </p:nvSpPr>
        <p:spPr>
          <a:xfrm>
            <a:off x="640080" y="822960"/>
            <a:ext cx="9601200" cy="365760"/>
          </a:xfrm>
          <a:prstGeom prst="rect">
            <a:avLst/>
          </a:prstGeom>
          <a:noFill/>
          <a:ln/>
        </p:spPr>
        <p:txBody>
          <a:bodyPr wrap="square"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MACHINE LEARNING  •  PROJECT REPORT  •  A.Y. 2026-27</a:t>
            </a:r>
            <a:endParaRPr lang="en-US" sz="1300" dirty="0"/>
          </a:p>
        </p:txBody>
      </p:sp>
      <p:sp>
        <p:nvSpPr>
          <p:cNvPr id="5" name="Text 3"/>
          <p:cNvSpPr/>
          <p:nvPr/>
        </p:nvSpPr>
        <p:spPr>
          <a:xfrm>
            <a:off x="640080" y="1371600"/>
            <a:ext cx="9692640" cy="1737360"/>
          </a:xfrm>
          <a:prstGeom prst="rect">
            <a:avLst/>
          </a:prstGeom>
          <a:noFill/>
          <a:ln/>
        </p:spPr>
        <p:txBody>
          <a:bodyPr wrap="square"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Match Outcome Prediction in Cricket and Football Using Random Forest and Artificial Neural Networks</a:t>
            </a:r>
            <a:endParaRPr lang="en-US" sz="3400" dirty="0"/>
          </a:p>
        </p:txBody>
      </p:sp>
      <p:sp>
        <p:nvSpPr>
          <p:cNvPr id="6" name="Text 4"/>
          <p:cNvSpPr/>
          <p:nvPr/>
        </p:nvSpPr>
        <p:spPr>
          <a:xfrm>
            <a:off x="640080" y="3063240"/>
            <a:ext cx="8961120" cy="731520"/>
          </a:xfrm>
          <a:prstGeom prst="rect">
            <a:avLst/>
          </a:prstGeom>
          <a:noFill/>
          <a:ln/>
        </p:spPr>
        <p:txBody>
          <a:bodyPr wrap="square" rtlCol="0" anchor="ctr"/>
          <a:lstStyle/>
          <a:p>
            <a:pPr indent="0" marL="0">
              <a:lnSpc>
                <a:spcPct val="115000"/>
              </a:lnSpc>
              <a:buNone/>
            </a:pPr>
            <a:r>
              <a:rPr lang="en-US" sz="1500" i="1" dirty="0">
                <a:solidFill>
                  <a:srgbClr val="9FB3CC"/>
                </a:solidFill>
                <a:latin typeface="Calibri" pitchFamily="34" charset="0"/>
                <a:ea typeface="Calibri" pitchFamily="34" charset="-122"/>
                <a:cs typeface="Calibri" pitchFamily="34" charset="-120"/>
              </a:rPr>
              <a:t>A hybrid machine-learning pipeline combining ensemble decision trees and deep neural networks to forecast match outcomes across two sports</a:t>
            </a:r>
            <a:endParaRPr lang="en-US" sz="1500" dirty="0"/>
          </a:p>
        </p:txBody>
      </p:sp>
      <p:sp>
        <p:nvSpPr>
          <p:cNvPr id="7" name="Text 5"/>
          <p:cNvSpPr/>
          <p:nvPr/>
        </p:nvSpPr>
        <p:spPr>
          <a:xfrm>
            <a:off x="640080" y="5074920"/>
            <a:ext cx="3657600" cy="274320"/>
          </a:xfrm>
          <a:prstGeom prst="rect">
            <a:avLst/>
          </a:prstGeom>
          <a:noFill/>
          <a:ln/>
        </p:spPr>
        <p:txBody>
          <a:bodyPr wrap="square"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PROJECT TEAM</a:t>
            </a:r>
            <a:endParaRPr lang="en-US" sz="1100" dirty="0"/>
          </a:p>
        </p:txBody>
      </p:sp>
      <p:sp>
        <p:nvSpPr>
          <p:cNvPr id="8" name="Text 6"/>
          <p:cNvSpPr/>
          <p:nvPr/>
        </p:nvSpPr>
        <p:spPr>
          <a:xfrm>
            <a:off x="4937760" y="5074920"/>
            <a:ext cx="3657600" cy="274320"/>
          </a:xfrm>
          <a:prstGeom prst="rect">
            <a:avLst/>
          </a:prstGeom>
          <a:noFill/>
          <a:ln/>
        </p:spPr>
        <p:txBody>
          <a:bodyPr wrap="square"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UNDER THE GUIDANCE OF</a:t>
            </a:r>
            <a:endParaRPr lang="en-US" sz="1100" dirty="0"/>
          </a:p>
        </p:txBody>
      </p:sp>
      <p:sp>
        <p:nvSpPr>
          <p:cNvPr id="9" name="Text 7"/>
          <p:cNvSpPr/>
          <p:nvPr/>
        </p:nvSpPr>
        <p:spPr>
          <a:xfrm>
            <a:off x="640080" y="5394960"/>
            <a:ext cx="3657600" cy="8229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Rapaka Rithwik</a:t>
            </a:r>
            <a:endParaRPr lang="en-US" sz="1500" dirty="0"/>
          </a:p>
          <a:p>
            <a:pPr indent="0" marL="0">
              <a:buNone/>
            </a:pPr>
            <a:r>
              <a:rPr lang="en-US" sz="1200" dirty="0">
                <a:solidFill>
                  <a:srgbClr val="9FB3CC"/>
                </a:solidFill>
                <a:latin typeface="Calibri" pitchFamily="34" charset="0"/>
                <a:ea typeface="Calibri" pitchFamily="34" charset="-122"/>
                <a:cs typeface="Calibri" pitchFamily="34" charset="-120"/>
              </a:rPr>
              <a:t>2520030427</a:t>
            </a:r>
            <a:endParaRPr lang="en-US" sz="1500" dirty="0"/>
          </a:p>
        </p:txBody>
      </p:sp>
      <p:sp>
        <p:nvSpPr>
          <p:cNvPr id="10" name="Text 8"/>
          <p:cNvSpPr/>
          <p:nvPr/>
        </p:nvSpPr>
        <p:spPr>
          <a:xfrm>
            <a:off x="4937760" y="5394960"/>
            <a:ext cx="4572000" cy="8229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 Jyothsna Datti</a:t>
            </a:r>
            <a:endParaRPr lang="en-US" sz="1500" dirty="0"/>
          </a:p>
          <a:p>
            <a:pPr indent="0" marL="0">
              <a:buNone/>
            </a:pPr>
            <a:r>
              <a:rPr lang="en-US" sz="1200" dirty="0">
                <a:solidFill>
                  <a:srgbClr val="9FB3CC"/>
                </a:solidFill>
                <a:latin typeface="Calibri" pitchFamily="34" charset="0"/>
                <a:ea typeface="Calibri" pitchFamily="34" charset="-122"/>
                <a:cs typeface="Calibri" pitchFamily="34" charset="-120"/>
              </a:rPr>
              <a:t>Professor, CSE Department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621792"/>
            <a:ext cx="7315200" cy="548640"/>
          </a:xfrm>
          <a:prstGeom prst="rect">
            <a:avLst/>
          </a:prstGeom>
          <a:noFill/>
          <a:ln/>
        </p:spPr>
        <p:txBody>
          <a:bodyPr wrap="square" rtlCol="0" anchor="ctr"/>
          <a:lstStyle/>
          <a:p>
            <a:pPr indent="0" marL="0">
              <a:buNone/>
            </a:pPr>
            <a:r>
              <a:rPr lang="en-US" sz="2800" b="1" dirty="0">
                <a:solidFill>
                  <a:srgbClr val="12233F"/>
                </a:solidFill>
                <a:latin typeface="Cambria" pitchFamily="34" charset="0"/>
                <a:ea typeface="Cambria" pitchFamily="34" charset="-122"/>
                <a:cs typeface="Cambria" pitchFamily="34" charset="-120"/>
              </a:rPr>
              <a:t>What We'll Cover</a:t>
            </a:r>
            <a:endParaRPr lang="en-US" sz="2800" dirty="0"/>
          </a:p>
        </p:txBody>
      </p:sp>
      <p:sp>
        <p:nvSpPr>
          <p:cNvPr id="4" name="Text 2"/>
          <p:cNvSpPr/>
          <p:nvPr/>
        </p:nvSpPr>
        <p:spPr>
          <a:xfrm>
            <a:off x="548640" y="1371600"/>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17320" y="1417320"/>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Introduction</a:t>
            </a:r>
            <a:endParaRPr lang="en-US" sz="1500" dirty="0"/>
          </a:p>
        </p:txBody>
      </p:sp>
      <p:sp>
        <p:nvSpPr>
          <p:cNvPr id="6" name="Text 4"/>
          <p:cNvSpPr/>
          <p:nvPr/>
        </p:nvSpPr>
        <p:spPr>
          <a:xfrm>
            <a:off x="1417320" y="1783080"/>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The prediction problem and why data-driven insight matters</a:t>
            </a:r>
            <a:endParaRPr lang="en-US" sz="1100" dirty="0"/>
          </a:p>
        </p:txBody>
      </p:sp>
      <p:sp>
        <p:nvSpPr>
          <p:cNvPr id="7" name="Text 5"/>
          <p:cNvSpPr/>
          <p:nvPr/>
        </p:nvSpPr>
        <p:spPr>
          <a:xfrm>
            <a:off x="548640" y="2578608"/>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417320" y="2624328"/>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Abstract &amp; Objectives</a:t>
            </a:r>
            <a:endParaRPr lang="en-US" sz="1500" dirty="0"/>
          </a:p>
        </p:txBody>
      </p:sp>
      <p:sp>
        <p:nvSpPr>
          <p:cNvPr id="9" name="Text 7"/>
          <p:cNvSpPr/>
          <p:nvPr/>
        </p:nvSpPr>
        <p:spPr>
          <a:xfrm>
            <a:off x="1417320" y="2990088"/>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Project goals, datasets, and evaluation metrics</a:t>
            </a:r>
            <a:endParaRPr lang="en-US" sz="1100" dirty="0"/>
          </a:p>
        </p:txBody>
      </p:sp>
      <p:sp>
        <p:nvSpPr>
          <p:cNvPr id="10" name="Text 8"/>
          <p:cNvSpPr/>
          <p:nvPr/>
        </p:nvSpPr>
        <p:spPr>
          <a:xfrm>
            <a:off x="548640" y="3785616"/>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17320" y="3831336"/>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Proposed Approach</a:t>
            </a:r>
            <a:endParaRPr lang="en-US" sz="1500" dirty="0"/>
          </a:p>
        </p:txBody>
      </p:sp>
      <p:sp>
        <p:nvSpPr>
          <p:cNvPr id="12" name="Text 10"/>
          <p:cNvSpPr/>
          <p:nvPr/>
        </p:nvSpPr>
        <p:spPr>
          <a:xfrm>
            <a:off x="1417320" y="4197096"/>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Random Forest + ANN hybrid modeling pipeline</a:t>
            </a:r>
            <a:endParaRPr lang="en-US" sz="1100" dirty="0"/>
          </a:p>
        </p:txBody>
      </p:sp>
      <p:sp>
        <p:nvSpPr>
          <p:cNvPr id="13" name="Text 11"/>
          <p:cNvSpPr/>
          <p:nvPr/>
        </p:nvSpPr>
        <p:spPr>
          <a:xfrm>
            <a:off x="548640" y="4992624"/>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1417320" y="5038344"/>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System Requirements</a:t>
            </a:r>
            <a:endParaRPr lang="en-US" sz="1500" dirty="0"/>
          </a:p>
        </p:txBody>
      </p:sp>
      <p:sp>
        <p:nvSpPr>
          <p:cNvPr id="15" name="Text 13"/>
          <p:cNvSpPr/>
          <p:nvPr/>
        </p:nvSpPr>
        <p:spPr>
          <a:xfrm>
            <a:off x="1417320" y="5404104"/>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Software stack and hardware setup</a:t>
            </a:r>
            <a:endParaRPr lang="en-US" sz="1100" dirty="0"/>
          </a:p>
        </p:txBody>
      </p:sp>
      <p:sp>
        <p:nvSpPr>
          <p:cNvPr id="16" name="Text 14"/>
          <p:cNvSpPr/>
          <p:nvPr/>
        </p:nvSpPr>
        <p:spPr>
          <a:xfrm>
            <a:off x="6217920" y="1371600"/>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7086600" y="1417320"/>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Exploratory Data Analysis</a:t>
            </a:r>
            <a:endParaRPr lang="en-US" sz="1500" dirty="0"/>
          </a:p>
        </p:txBody>
      </p:sp>
      <p:sp>
        <p:nvSpPr>
          <p:cNvPr id="18" name="Text 16"/>
          <p:cNvSpPr/>
          <p:nvPr/>
        </p:nvSpPr>
        <p:spPr>
          <a:xfrm>
            <a:off x="7086600" y="1783080"/>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Football and cricket dataset structure and patterns</a:t>
            </a:r>
            <a:endParaRPr lang="en-US" sz="1100" dirty="0"/>
          </a:p>
        </p:txBody>
      </p:sp>
      <p:sp>
        <p:nvSpPr>
          <p:cNvPr id="19" name="Text 17"/>
          <p:cNvSpPr/>
          <p:nvPr/>
        </p:nvSpPr>
        <p:spPr>
          <a:xfrm>
            <a:off x="6217920" y="2578608"/>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06</a:t>
            </a:r>
            <a:endParaRPr lang="en-US" sz="3000" dirty="0"/>
          </a:p>
        </p:txBody>
      </p:sp>
      <p:sp>
        <p:nvSpPr>
          <p:cNvPr id="20" name="Text 18"/>
          <p:cNvSpPr/>
          <p:nvPr/>
        </p:nvSpPr>
        <p:spPr>
          <a:xfrm>
            <a:off x="7086600" y="2624328"/>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Key Observations</a:t>
            </a:r>
            <a:endParaRPr lang="en-US" sz="1500" dirty="0"/>
          </a:p>
        </p:txBody>
      </p:sp>
      <p:sp>
        <p:nvSpPr>
          <p:cNvPr id="21" name="Text 19"/>
          <p:cNvSpPr/>
          <p:nvPr/>
        </p:nvSpPr>
        <p:spPr>
          <a:xfrm>
            <a:off x="7086600" y="2990088"/>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Insights that shape model design</a:t>
            </a:r>
            <a:endParaRPr lang="en-US" sz="1100" dirty="0"/>
          </a:p>
        </p:txBody>
      </p:sp>
      <p:sp>
        <p:nvSpPr>
          <p:cNvPr id="22" name="Text 20"/>
          <p:cNvSpPr/>
          <p:nvPr/>
        </p:nvSpPr>
        <p:spPr>
          <a:xfrm>
            <a:off x="6217920" y="3785616"/>
            <a:ext cx="914400" cy="822960"/>
          </a:xfrm>
          <a:prstGeom prst="rect">
            <a:avLst/>
          </a:prstGeom>
          <a:noFill/>
          <a:ln/>
        </p:spPr>
        <p:txBody>
          <a:bodyPr wrap="square" rtlCol="0" anchor="ctr"/>
          <a:lstStyle/>
          <a:p>
            <a:pPr indent="0" marL="0">
              <a:buNone/>
            </a:pPr>
            <a:r>
              <a:rPr lang="en-US" sz="3000" b="1" dirty="0">
                <a:solidFill>
                  <a:srgbClr val="C9D6E8"/>
                </a:solidFill>
                <a:latin typeface="Cambria" pitchFamily="34" charset="0"/>
                <a:ea typeface="Cambria" pitchFamily="34" charset="-122"/>
                <a:cs typeface="Cambria" pitchFamily="34" charset="-120"/>
              </a:rPr>
              <a:t>07</a:t>
            </a:r>
            <a:endParaRPr lang="en-US" sz="3000" dirty="0"/>
          </a:p>
        </p:txBody>
      </p:sp>
      <p:sp>
        <p:nvSpPr>
          <p:cNvPr id="23" name="Text 21"/>
          <p:cNvSpPr/>
          <p:nvPr/>
        </p:nvSpPr>
        <p:spPr>
          <a:xfrm>
            <a:off x="7086600" y="3831336"/>
            <a:ext cx="4343400" cy="365760"/>
          </a:xfrm>
          <a:prstGeom prst="rect">
            <a:avLst/>
          </a:prstGeom>
          <a:noFill/>
          <a:ln/>
        </p:spPr>
        <p:txBody>
          <a:bodyPr wrap="square"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Conclusion &amp; Next Steps</a:t>
            </a:r>
            <a:endParaRPr lang="en-US" sz="1500" dirty="0"/>
          </a:p>
        </p:txBody>
      </p:sp>
      <p:sp>
        <p:nvSpPr>
          <p:cNvPr id="24" name="Text 22"/>
          <p:cNvSpPr/>
          <p:nvPr/>
        </p:nvSpPr>
        <p:spPr>
          <a:xfrm>
            <a:off x="7086600" y="4197096"/>
            <a:ext cx="4343400" cy="82296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Roadmap toward a working prediction system</a:t>
            </a:r>
            <a:endParaRPr lang="en-US" sz="1100" dirty="0"/>
          </a:p>
        </p:txBody>
      </p:sp>
      <p:sp>
        <p:nvSpPr>
          <p:cNvPr id="25" name="Text 23"/>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using Random Forest &amp; ANN</a:t>
            </a:r>
            <a:endParaRPr lang="en-US" sz="900" dirty="0"/>
          </a:p>
        </p:txBody>
      </p:sp>
      <p:sp>
        <p:nvSpPr>
          <p:cNvPr id="26" name="Text 24"/>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515600" cy="54864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Why Predict Match Outcomes with Machine Learning?</a:t>
            </a:r>
            <a:endParaRPr lang="en-US" sz="2600" dirty="0"/>
          </a:p>
        </p:txBody>
      </p:sp>
      <p:sp>
        <p:nvSpPr>
          <p:cNvPr id="4" name="Shape 2"/>
          <p:cNvSpPr/>
          <p:nvPr/>
        </p:nvSpPr>
        <p:spPr>
          <a:xfrm>
            <a:off x="548640" y="1417320"/>
            <a:ext cx="6537960" cy="4434840"/>
          </a:xfrm>
          <a:prstGeom prst="rect">
            <a:avLst/>
          </a:prstGeom>
          <a:solidFill>
            <a:srgbClr val="E8EEF7"/>
          </a:solidFill>
          <a:ln/>
        </p:spPr>
      </p:sp>
      <p:sp>
        <p:nvSpPr>
          <p:cNvPr id="5" name="Text 3"/>
          <p:cNvSpPr/>
          <p:nvPr/>
        </p:nvSpPr>
        <p:spPr>
          <a:xfrm>
            <a:off x="868680" y="1691640"/>
            <a:ext cx="5943600" cy="3840480"/>
          </a:xfrm>
          <a:prstGeom prst="rect">
            <a:avLst/>
          </a:prstGeom>
          <a:noFill/>
          <a:ln/>
        </p:spPr>
        <p:txBody>
          <a:bodyPr wrap="square" rtlCol="0" anchor="ctr"/>
          <a:lstStyle/>
          <a:p>
            <a:pPr indent="0" marL="0">
              <a:lnSpc>
                <a:spcPct val="130000"/>
              </a:lnSpc>
              <a:buNone/>
            </a:pPr>
            <a:r>
              <a:rPr lang="en-US" sz="1350" dirty="0">
                <a:solidFill>
                  <a:srgbClr val="12233F"/>
                </a:solidFill>
                <a:latin typeface="Calibri" pitchFamily="34" charset="0"/>
                <a:ea typeface="Calibri" pitchFamily="34" charset="-122"/>
                <a:cs typeface="Calibri" pitchFamily="34" charset="-120"/>
              </a:rPr>
              <a:t>Cricket and football generate enormous volumes of match data every season, yet outcome forecasting has traditionally relied on pundit intuition and simple averages. These approaches struggle to capture the tangled web of factors — team form, player availability, venue conditions, and head-to-head history — that actually decide a result.</a:t>
            </a:r>
            <a:endParaRPr lang="en-US" sz="1350" dirty="0"/>
          </a:p>
          <a:p>
            <a:pPr indent="0" marL="0">
              <a:lnSpc>
                <a:spcPct val="130000"/>
              </a:lnSpc>
              <a:buNone/>
            </a:pPr>
            <a:endParaRPr lang="en-US" sz="1350" dirty="0"/>
          </a:p>
          <a:p>
            <a:pPr indent="0" marL="0">
              <a:lnSpc>
                <a:spcPct val="130000"/>
              </a:lnSpc>
              <a:buNone/>
            </a:pPr>
            <a:r>
              <a:rPr lang="en-US" sz="1350" dirty="0">
                <a:solidFill>
                  <a:srgbClr val="12233F"/>
                </a:solidFill>
                <a:latin typeface="Calibri" pitchFamily="34" charset="0"/>
                <a:ea typeface="Calibri" pitchFamily="34" charset="-122"/>
                <a:cs typeface="Calibri" pitchFamily="34" charset="-120"/>
              </a:rPr>
              <a:t>Machine learning offers a data-driven alternative. By learning directly from historical statistics, models can surface patterns invisible to manual analysis and produce objective, repeatable pre-match predictions across multiple sports.</a:t>
            </a:r>
            <a:endParaRPr lang="en-US" sz="1350" dirty="0"/>
          </a:p>
        </p:txBody>
      </p:sp>
      <p:sp>
        <p:nvSpPr>
          <p:cNvPr id="6" name="Text 4"/>
          <p:cNvSpPr/>
          <p:nvPr/>
        </p:nvSpPr>
        <p:spPr>
          <a:xfrm>
            <a:off x="7315200" y="1463040"/>
            <a:ext cx="4297680" cy="320040"/>
          </a:xfrm>
          <a:prstGeom prst="rect">
            <a:avLst/>
          </a:prstGeom>
          <a:noFill/>
          <a:ln/>
        </p:spPr>
        <p:txBody>
          <a:bodyPr wrap="square" rtlCol="0" anchor="ctr"/>
          <a:lstStyle/>
          <a:p>
            <a:pPr indent="0" marL="0">
              <a:buNone/>
            </a:pPr>
            <a:r>
              <a:rPr lang="en-US" sz="1200" b="1" spc="120" kern="0" dirty="0">
                <a:solidFill>
                  <a:srgbClr val="F5A623"/>
                </a:solidFill>
                <a:latin typeface="Calibri" pitchFamily="34" charset="0"/>
                <a:ea typeface="Calibri" pitchFamily="34" charset="-122"/>
                <a:cs typeface="Calibri" pitchFamily="34" charset="-120"/>
              </a:rPr>
              <a:t>WHERE PREDICTION ADDS VALUE</a:t>
            </a:r>
            <a:endParaRPr lang="en-US" sz="1200" dirty="0"/>
          </a:p>
        </p:txBody>
      </p:sp>
      <p:sp>
        <p:nvSpPr>
          <p:cNvPr id="7" name="Shape 5"/>
          <p:cNvSpPr/>
          <p:nvPr/>
        </p:nvSpPr>
        <p:spPr>
          <a:xfrm>
            <a:off x="7315200" y="2048256"/>
            <a:ext cx="109728" cy="109728"/>
          </a:xfrm>
          <a:prstGeom prst="ellipse">
            <a:avLst/>
          </a:prstGeom>
          <a:solidFill>
            <a:srgbClr val="F5A623"/>
          </a:solidFill>
          <a:ln/>
        </p:spPr>
      </p:sp>
      <p:sp>
        <p:nvSpPr>
          <p:cNvPr id="8" name="Text 6"/>
          <p:cNvSpPr/>
          <p:nvPr/>
        </p:nvSpPr>
        <p:spPr>
          <a:xfrm>
            <a:off x="7571232" y="1856232"/>
            <a:ext cx="4069080" cy="685800"/>
          </a:xfrm>
          <a:prstGeom prst="rect">
            <a:avLst/>
          </a:prstGeom>
          <a:noFill/>
          <a:ln/>
        </p:spPr>
        <p:txBody>
          <a:bodyPr wrap="square" rtlCol="0" anchor="ctr"/>
          <a:lstStyle/>
          <a:p>
            <a:pPr indent="0" marL="0">
              <a:lnSpc>
                <a:spcPct val="115000"/>
              </a:lnSpc>
              <a:buNone/>
            </a:pPr>
            <a:r>
              <a:rPr lang="en-US" sz="1250" dirty="0">
                <a:solidFill>
                  <a:srgbClr val="12233F"/>
                </a:solidFill>
                <a:latin typeface="Calibri" pitchFamily="34" charset="0"/>
                <a:ea typeface="Calibri" pitchFamily="34" charset="-122"/>
                <a:cs typeface="Calibri" pitchFamily="34" charset="-120"/>
              </a:rPr>
              <a:t>Fan-engagement platforms &amp; pre-match previews</a:t>
            </a:r>
            <a:endParaRPr lang="en-US" sz="1250" dirty="0"/>
          </a:p>
        </p:txBody>
      </p:sp>
      <p:sp>
        <p:nvSpPr>
          <p:cNvPr id="9" name="Shape 7"/>
          <p:cNvSpPr/>
          <p:nvPr/>
        </p:nvSpPr>
        <p:spPr>
          <a:xfrm>
            <a:off x="7315200" y="2944368"/>
            <a:ext cx="109728" cy="109728"/>
          </a:xfrm>
          <a:prstGeom prst="ellipse">
            <a:avLst/>
          </a:prstGeom>
          <a:solidFill>
            <a:srgbClr val="F5A623"/>
          </a:solidFill>
          <a:ln/>
        </p:spPr>
      </p:sp>
      <p:sp>
        <p:nvSpPr>
          <p:cNvPr id="10" name="Text 8"/>
          <p:cNvSpPr/>
          <p:nvPr/>
        </p:nvSpPr>
        <p:spPr>
          <a:xfrm>
            <a:off x="7571232" y="2752344"/>
            <a:ext cx="4069080" cy="685800"/>
          </a:xfrm>
          <a:prstGeom prst="rect">
            <a:avLst/>
          </a:prstGeom>
          <a:noFill/>
          <a:ln/>
        </p:spPr>
        <p:txBody>
          <a:bodyPr wrap="square" rtlCol="0" anchor="ctr"/>
          <a:lstStyle/>
          <a:p>
            <a:pPr indent="0" marL="0">
              <a:lnSpc>
                <a:spcPct val="115000"/>
              </a:lnSpc>
              <a:buNone/>
            </a:pPr>
            <a:r>
              <a:rPr lang="en-US" sz="1250" dirty="0">
                <a:solidFill>
                  <a:srgbClr val="12233F"/>
                </a:solidFill>
                <a:latin typeface="Calibri" pitchFamily="34" charset="0"/>
                <a:ea typeface="Calibri" pitchFamily="34" charset="-122"/>
                <a:cs typeface="Calibri" pitchFamily="34" charset="-120"/>
              </a:rPr>
              <a:t>Broadcaster analytics and match-day storytelling</a:t>
            </a:r>
            <a:endParaRPr lang="en-US" sz="1250" dirty="0"/>
          </a:p>
        </p:txBody>
      </p:sp>
      <p:sp>
        <p:nvSpPr>
          <p:cNvPr id="11" name="Shape 9"/>
          <p:cNvSpPr/>
          <p:nvPr/>
        </p:nvSpPr>
        <p:spPr>
          <a:xfrm>
            <a:off x="7315200" y="3840480"/>
            <a:ext cx="109728" cy="109728"/>
          </a:xfrm>
          <a:prstGeom prst="ellipse">
            <a:avLst/>
          </a:prstGeom>
          <a:solidFill>
            <a:srgbClr val="F5A623"/>
          </a:solidFill>
          <a:ln/>
        </p:spPr>
      </p:sp>
      <p:sp>
        <p:nvSpPr>
          <p:cNvPr id="12" name="Text 10"/>
          <p:cNvSpPr/>
          <p:nvPr/>
        </p:nvSpPr>
        <p:spPr>
          <a:xfrm>
            <a:off x="7571232" y="3648456"/>
            <a:ext cx="4069080" cy="685800"/>
          </a:xfrm>
          <a:prstGeom prst="rect">
            <a:avLst/>
          </a:prstGeom>
          <a:noFill/>
          <a:ln/>
        </p:spPr>
        <p:txBody>
          <a:bodyPr wrap="square" rtlCol="0" anchor="ctr"/>
          <a:lstStyle/>
          <a:p>
            <a:pPr indent="0" marL="0">
              <a:lnSpc>
                <a:spcPct val="115000"/>
              </a:lnSpc>
              <a:buNone/>
            </a:pPr>
            <a:r>
              <a:rPr lang="en-US" sz="1250" dirty="0">
                <a:solidFill>
                  <a:srgbClr val="12233F"/>
                </a:solidFill>
                <a:latin typeface="Calibri" pitchFamily="34" charset="0"/>
                <a:ea typeface="Calibri" pitchFamily="34" charset="-122"/>
                <a:cs typeface="Calibri" pitchFamily="34" charset="-120"/>
              </a:rPr>
              <a:t>Team strategy, scouting &amp; opposition analysis</a:t>
            </a:r>
            <a:endParaRPr lang="en-US" sz="1250" dirty="0"/>
          </a:p>
        </p:txBody>
      </p:sp>
      <p:sp>
        <p:nvSpPr>
          <p:cNvPr id="13" name="Shape 11"/>
          <p:cNvSpPr/>
          <p:nvPr/>
        </p:nvSpPr>
        <p:spPr>
          <a:xfrm>
            <a:off x="7315200" y="4736592"/>
            <a:ext cx="109728" cy="109728"/>
          </a:xfrm>
          <a:prstGeom prst="ellipse">
            <a:avLst/>
          </a:prstGeom>
          <a:solidFill>
            <a:srgbClr val="F5A623"/>
          </a:solidFill>
          <a:ln/>
        </p:spPr>
      </p:sp>
      <p:sp>
        <p:nvSpPr>
          <p:cNvPr id="14" name="Text 12"/>
          <p:cNvSpPr/>
          <p:nvPr/>
        </p:nvSpPr>
        <p:spPr>
          <a:xfrm>
            <a:off x="7571232" y="4544568"/>
            <a:ext cx="4069080" cy="685800"/>
          </a:xfrm>
          <a:prstGeom prst="rect">
            <a:avLst/>
          </a:prstGeom>
          <a:noFill/>
          <a:ln/>
        </p:spPr>
        <p:txBody>
          <a:bodyPr wrap="square" rtlCol="0" anchor="ctr"/>
          <a:lstStyle/>
          <a:p>
            <a:pPr indent="0" marL="0">
              <a:lnSpc>
                <a:spcPct val="115000"/>
              </a:lnSpc>
              <a:buNone/>
            </a:pPr>
            <a:r>
              <a:rPr lang="en-US" sz="1250" dirty="0">
                <a:solidFill>
                  <a:srgbClr val="12233F"/>
                </a:solidFill>
                <a:latin typeface="Calibri" pitchFamily="34" charset="0"/>
                <a:ea typeface="Calibri" pitchFamily="34" charset="-122"/>
                <a:cs typeface="Calibri" pitchFamily="34" charset="-120"/>
              </a:rPr>
              <a:t>Sports-analytics dashboards for coaches &amp; analysts</a:t>
            </a:r>
            <a:endParaRPr lang="en-US" sz="1250" dirty="0"/>
          </a:p>
        </p:txBody>
      </p:sp>
      <p:sp>
        <p:nvSpPr>
          <p:cNvPr id="15" name="Shape 13"/>
          <p:cNvSpPr/>
          <p:nvPr/>
        </p:nvSpPr>
        <p:spPr>
          <a:xfrm>
            <a:off x="7315200" y="5504688"/>
            <a:ext cx="4315968" cy="18288"/>
          </a:xfrm>
          <a:prstGeom prst="rect">
            <a:avLst/>
          </a:prstGeom>
          <a:solidFill>
            <a:srgbClr val="C9D6E8"/>
          </a:solidFill>
          <a:ln/>
        </p:spPr>
      </p:sp>
      <p:sp>
        <p:nvSpPr>
          <p:cNvPr id="16" name="Text 14"/>
          <p:cNvSpPr/>
          <p:nvPr/>
        </p:nvSpPr>
        <p:spPr>
          <a:xfrm>
            <a:off x="7315200" y="5623560"/>
            <a:ext cx="4315968" cy="1005840"/>
          </a:xfrm>
          <a:prstGeom prst="rect">
            <a:avLst/>
          </a:prstGeom>
          <a:noFill/>
          <a:ln/>
        </p:spPr>
        <p:txBody>
          <a:bodyPr wrap="square" rtlCol="0" anchor="ctr"/>
          <a:lstStyle/>
          <a:p>
            <a:pPr indent="0" marL="0">
              <a:lnSpc>
                <a:spcPct val="120000"/>
              </a:lnSpc>
              <a:buNone/>
            </a:pPr>
            <a:r>
              <a:rPr lang="en-US" sz="1150" i="1" dirty="0">
                <a:solidFill>
                  <a:srgbClr val="5B6472"/>
                </a:solidFill>
                <a:latin typeface="Calibri" pitchFamily="34" charset="0"/>
                <a:ea typeface="Calibri" pitchFamily="34" charset="-122"/>
                <a:cs typeface="Calibri" pitchFamily="34" charset="-120"/>
              </a:rPr>
              <a:t>This project targets two sports — cricket and football — using a shared hybrid modeling framework that blends interpretable ensemble learning with deep pattern recognition.</a:t>
            </a:r>
            <a:endParaRPr lang="en-US" sz="1150" dirty="0"/>
          </a:p>
        </p:txBody>
      </p:sp>
      <p:sp>
        <p:nvSpPr>
          <p:cNvPr id="17" name="Text 15"/>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18" name="Text 16"/>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ABSTRACT &amp; OBJECTIVES</a:t>
            </a:r>
            <a:endParaRPr lang="en-US" sz="1200" dirty="0"/>
          </a:p>
        </p:txBody>
      </p:sp>
      <p:sp>
        <p:nvSpPr>
          <p:cNvPr id="3" name="Text 1"/>
          <p:cNvSpPr/>
          <p:nvPr/>
        </p:nvSpPr>
        <p:spPr>
          <a:xfrm>
            <a:off x="548640" y="621792"/>
            <a:ext cx="73152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Project Abstract</a:t>
            </a:r>
            <a:endParaRPr lang="en-US" sz="2600" dirty="0"/>
          </a:p>
        </p:txBody>
      </p:sp>
      <p:sp>
        <p:nvSpPr>
          <p:cNvPr id="4" name="Text 2"/>
          <p:cNvSpPr/>
          <p:nvPr/>
        </p:nvSpPr>
        <p:spPr>
          <a:xfrm>
            <a:off x="548640" y="1234440"/>
            <a:ext cx="11064240" cy="1417320"/>
          </a:xfrm>
          <a:prstGeom prst="rect">
            <a:avLst/>
          </a:prstGeom>
          <a:noFill/>
          <a:ln/>
        </p:spPr>
        <p:txBody>
          <a:bodyPr wrap="square" rtlCol="0" anchor="ctr"/>
          <a:lstStyle/>
          <a:p>
            <a:pPr indent="0" marL="0">
              <a:lnSpc>
                <a:spcPct val="130000"/>
              </a:lnSpc>
              <a:buNone/>
            </a:pPr>
            <a:r>
              <a:rPr lang="en-US" sz="1350" dirty="0">
                <a:solidFill>
                  <a:srgbClr val="12233F"/>
                </a:solidFill>
                <a:latin typeface="Calibri" pitchFamily="34" charset="0"/>
                <a:ea typeface="Calibri" pitchFamily="34" charset="-122"/>
                <a:cs typeface="Calibri" pitchFamily="34" charset="-120"/>
              </a:rPr>
              <a:t>This project proposes a hybrid machine-learning approach to predicting cricket and football match outcomes, combining Random Forest — an ensemble decision-tree method suited to structured tabular data — with Artificial Neural Networks (ANN), which capture complex non-linear relationships among features. Historical match data from public sports repositories, covering team form, shot and wicket statistics, and venue-related factors, will be used to train and compare both models using accuracy, precision, recall, and F1-score.</a:t>
            </a:r>
            <a:endParaRPr lang="en-US" sz="1350" dirty="0"/>
          </a:p>
        </p:txBody>
      </p:sp>
      <p:sp>
        <p:nvSpPr>
          <p:cNvPr id="5" name="Shape 3"/>
          <p:cNvSpPr/>
          <p:nvPr/>
        </p:nvSpPr>
        <p:spPr>
          <a:xfrm>
            <a:off x="548640" y="2971800"/>
            <a:ext cx="2606040" cy="2880360"/>
          </a:xfrm>
          <a:prstGeom prst="rect">
            <a:avLst/>
          </a:prstGeom>
          <a:solidFill>
            <a:srgbClr val="12233F"/>
          </a:solidFill>
          <a:ln/>
        </p:spPr>
      </p:sp>
      <p:sp>
        <p:nvSpPr>
          <p:cNvPr id="6" name="Text 4"/>
          <p:cNvSpPr/>
          <p:nvPr/>
        </p:nvSpPr>
        <p:spPr>
          <a:xfrm>
            <a:off x="749808" y="3154680"/>
            <a:ext cx="914400" cy="548640"/>
          </a:xfrm>
          <a:prstGeom prst="rect">
            <a:avLst/>
          </a:prstGeom>
          <a:noFill/>
          <a:ln/>
        </p:spPr>
        <p:txBody>
          <a:bodyPr wrap="square"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749808" y="3840480"/>
            <a:ext cx="2203704"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Multi-Sport Modeling</a:t>
            </a:r>
            <a:endParaRPr lang="en-US" sz="1400" dirty="0"/>
          </a:p>
        </p:txBody>
      </p:sp>
      <p:sp>
        <p:nvSpPr>
          <p:cNvPr id="8" name="Text 6"/>
          <p:cNvSpPr/>
          <p:nvPr/>
        </p:nvSpPr>
        <p:spPr>
          <a:xfrm>
            <a:off x="749808" y="4480560"/>
            <a:ext cx="2203704" cy="1234440"/>
          </a:xfrm>
          <a:prstGeom prst="rect">
            <a:avLst/>
          </a:prstGeom>
          <a:noFill/>
          <a:ln/>
        </p:spPr>
        <p:txBody>
          <a:bodyPr wrap="square" rtlCol="0" anchor="ctr"/>
          <a:lstStyle/>
          <a:p>
            <a:pPr indent="0" marL="0">
              <a:lnSpc>
                <a:spcPct val="125000"/>
              </a:lnSpc>
              <a:buNone/>
            </a:pPr>
            <a:r>
              <a:rPr lang="en-US" sz="1100" dirty="0">
                <a:solidFill>
                  <a:srgbClr val="9FB3CC"/>
                </a:solidFill>
                <a:latin typeface="Calibri" pitchFamily="34" charset="0"/>
                <a:ea typeface="Calibri" pitchFamily="34" charset="-122"/>
                <a:cs typeface="Calibri" pitchFamily="34" charset="-120"/>
              </a:rPr>
              <a:t>Build outcome-prediction models spanning both cricket and football.</a:t>
            </a:r>
            <a:endParaRPr lang="en-US" sz="1100" dirty="0"/>
          </a:p>
        </p:txBody>
      </p:sp>
      <p:sp>
        <p:nvSpPr>
          <p:cNvPr id="9" name="Shape 7"/>
          <p:cNvSpPr/>
          <p:nvPr/>
        </p:nvSpPr>
        <p:spPr>
          <a:xfrm>
            <a:off x="3410712" y="2971800"/>
            <a:ext cx="2606040" cy="2880360"/>
          </a:xfrm>
          <a:prstGeom prst="rect">
            <a:avLst/>
          </a:prstGeom>
          <a:solidFill>
            <a:srgbClr val="12233F"/>
          </a:solidFill>
          <a:ln/>
        </p:spPr>
      </p:sp>
      <p:sp>
        <p:nvSpPr>
          <p:cNvPr id="10" name="Text 8"/>
          <p:cNvSpPr/>
          <p:nvPr/>
        </p:nvSpPr>
        <p:spPr>
          <a:xfrm>
            <a:off x="3611880" y="3154680"/>
            <a:ext cx="914400" cy="548640"/>
          </a:xfrm>
          <a:prstGeom prst="rect">
            <a:avLst/>
          </a:prstGeom>
          <a:noFill/>
          <a:ln/>
        </p:spPr>
        <p:txBody>
          <a:bodyPr wrap="square"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3611880" y="3840480"/>
            <a:ext cx="2203704"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Hybrid Approach</a:t>
            </a:r>
            <a:endParaRPr lang="en-US" sz="1400" dirty="0"/>
          </a:p>
        </p:txBody>
      </p:sp>
      <p:sp>
        <p:nvSpPr>
          <p:cNvPr id="12" name="Text 10"/>
          <p:cNvSpPr/>
          <p:nvPr/>
        </p:nvSpPr>
        <p:spPr>
          <a:xfrm>
            <a:off x="3611880" y="4480560"/>
            <a:ext cx="2203704" cy="1234440"/>
          </a:xfrm>
          <a:prstGeom prst="rect">
            <a:avLst/>
          </a:prstGeom>
          <a:noFill/>
          <a:ln/>
        </p:spPr>
        <p:txBody>
          <a:bodyPr wrap="square" rtlCol="0" anchor="ctr"/>
          <a:lstStyle/>
          <a:p>
            <a:pPr indent="0" marL="0">
              <a:lnSpc>
                <a:spcPct val="125000"/>
              </a:lnSpc>
              <a:buNone/>
            </a:pPr>
            <a:r>
              <a:rPr lang="en-US" sz="1100" dirty="0">
                <a:solidFill>
                  <a:srgbClr val="9FB3CC"/>
                </a:solidFill>
                <a:latin typeface="Calibri" pitchFamily="34" charset="0"/>
                <a:ea typeface="Calibri" pitchFamily="34" charset="-122"/>
                <a:cs typeface="Calibri" pitchFamily="34" charset="-120"/>
              </a:rPr>
              <a:t>Pair Random Forest's interpretability with ANN's pattern recognition.</a:t>
            </a:r>
            <a:endParaRPr lang="en-US" sz="1100" dirty="0"/>
          </a:p>
        </p:txBody>
      </p:sp>
      <p:sp>
        <p:nvSpPr>
          <p:cNvPr id="13" name="Shape 11"/>
          <p:cNvSpPr/>
          <p:nvPr/>
        </p:nvSpPr>
        <p:spPr>
          <a:xfrm>
            <a:off x="6272784" y="2971800"/>
            <a:ext cx="2606040" cy="2880360"/>
          </a:xfrm>
          <a:prstGeom prst="rect">
            <a:avLst/>
          </a:prstGeom>
          <a:solidFill>
            <a:srgbClr val="12233F"/>
          </a:solidFill>
          <a:ln/>
        </p:spPr>
      </p:sp>
      <p:sp>
        <p:nvSpPr>
          <p:cNvPr id="14" name="Text 12"/>
          <p:cNvSpPr/>
          <p:nvPr/>
        </p:nvSpPr>
        <p:spPr>
          <a:xfrm>
            <a:off x="6473952" y="3154680"/>
            <a:ext cx="914400" cy="548640"/>
          </a:xfrm>
          <a:prstGeom prst="rect">
            <a:avLst/>
          </a:prstGeom>
          <a:noFill/>
          <a:ln/>
        </p:spPr>
        <p:txBody>
          <a:bodyPr wrap="square"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6473952" y="3840480"/>
            <a:ext cx="2203704"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Robust Evaluation</a:t>
            </a:r>
            <a:endParaRPr lang="en-US" sz="1400" dirty="0"/>
          </a:p>
        </p:txBody>
      </p:sp>
      <p:sp>
        <p:nvSpPr>
          <p:cNvPr id="16" name="Text 14"/>
          <p:cNvSpPr/>
          <p:nvPr/>
        </p:nvSpPr>
        <p:spPr>
          <a:xfrm>
            <a:off x="6473952" y="4480560"/>
            <a:ext cx="2203704" cy="1234440"/>
          </a:xfrm>
          <a:prstGeom prst="rect">
            <a:avLst/>
          </a:prstGeom>
          <a:noFill/>
          <a:ln/>
        </p:spPr>
        <p:txBody>
          <a:bodyPr wrap="square" rtlCol="0" anchor="ctr"/>
          <a:lstStyle/>
          <a:p>
            <a:pPr indent="0" marL="0">
              <a:lnSpc>
                <a:spcPct val="125000"/>
              </a:lnSpc>
              <a:buNone/>
            </a:pPr>
            <a:r>
              <a:rPr lang="en-US" sz="1100" dirty="0">
                <a:solidFill>
                  <a:srgbClr val="9FB3CC"/>
                </a:solidFill>
                <a:latin typeface="Calibri" pitchFamily="34" charset="0"/>
                <a:ea typeface="Calibri" pitchFamily="34" charset="-122"/>
                <a:cs typeface="Calibri" pitchFamily="34" charset="-120"/>
              </a:rPr>
              <a:t>Compare models on accuracy, precision, recall &amp; F1-score.</a:t>
            </a:r>
            <a:endParaRPr lang="en-US" sz="1100" dirty="0"/>
          </a:p>
        </p:txBody>
      </p:sp>
      <p:sp>
        <p:nvSpPr>
          <p:cNvPr id="17" name="Shape 15"/>
          <p:cNvSpPr/>
          <p:nvPr/>
        </p:nvSpPr>
        <p:spPr>
          <a:xfrm>
            <a:off x="9134856" y="2971800"/>
            <a:ext cx="2606040" cy="2880360"/>
          </a:xfrm>
          <a:prstGeom prst="rect">
            <a:avLst/>
          </a:prstGeom>
          <a:solidFill>
            <a:srgbClr val="12233F"/>
          </a:solidFill>
          <a:ln/>
        </p:spPr>
      </p:sp>
      <p:sp>
        <p:nvSpPr>
          <p:cNvPr id="18" name="Text 16"/>
          <p:cNvSpPr/>
          <p:nvPr/>
        </p:nvSpPr>
        <p:spPr>
          <a:xfrm>
            <a:off x="9336024" y="3154680"/>
            <a:ext cx="914400" cy="548640"/>
          </a:xfrm>
          <a:prstGeom prst="rect">
            <a:avLst/>
          </a:prstGeom>
          <a:noFill/>
          <a:ln/>
        </p:spPr>
        <p:txBody>
          <a:bodyPr wrap="square"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4</a:t>
            </a:r>
            <a:endParaRPr lang="en-US" sz="2600" dirty="0"/>
          </a:p>
        </p:txBody>
      </p:sp>
      <p:sp>
        <p:nvSpPr>
          <p:cNvPr id="19" name="Text 17"/>
          <p:cNvSpPr/>
          <p:nvPr/>
        </p:nvSpPr>
        <p:spPr>
          <a:xfrm>
            <a:off x="9336024" y="3840480"/>
            <a:ext cx="2203704" cy="64008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Actionable Insights</a:t>
            </a:r>
            <a:endParaRPr lang="en-US" sz="1400" dirty="0"/>
          </a:p>
        </p:txBody>
      </p:sp>
      <p:sp>
        <p:nvSpPr>
          <p:cNvPr id="20" name="Text 18"/>
          <p:cNvSpPr/>
          <p:nvPr/>
        </p:nvSpPr>
        <p:spPr>
          <a:xfrm>
            <a:off x="9336024" y="4480560"/>
            <a:ext cx="2203704" cy="1234440"/>
          </a:xfrm>
          <a:prstGeom prst="rect">
            <a:avLst/>
          </a:prstGeom>
          <a:noFill/>
          <a:ln/>
        </p:spPr>
        <p:txBody>
          <a:bodyPr wrap="square" rtlCol="0" anchor="ctr"/>
          <a:lstStyle/>
          <a:p>
            <a:pPr indent="0" marL="0">
              <a:lnSpc>
                <a:spcPct val="125000"/>
              </a:lnSpc>
              <a:buNone/>
            </a:pPr>
            <a:r>
              <a:rPr lang="en-US" sz="1100" dirty="0">
                <a:solidFill>
                  <a:srgbClr val="9FB3CC"/>
                </a:solidFill>
                <a:latin typeface="Calibri" pitchFamily="34" charset="0"/>
                <a:ea typeface="Calibri" pitchFamily="34" charset="-122"/>
                <a:cs typeface="Calibri" pitchFamily="34" charset="-120"/>
              </a:rPr>
              <a:t>Surface feature importances that explain what drives outcomes.</a:t>
            </a:r>
            <a:endParaRPr lang="en-US" sz="1100" dirty="0"/>
          </a:p>
        </p:txBody>
      </p:sp>
      <p:sp>
        <p:nvSpPr>
          <p:cNvPr id="21" name="Text 1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22" name="Text 20"/>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PROPOSED APPROACH</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Random Forest + ANN Modeling Pipeline</a:t>
            </a:r>
            <a:endParaRPr lang="en-US" sz="2600" dirty="0"/>
          </a:p>
        </p:txBody>
      </p:sp>
      <p:sp>
        <p:nvSpPr>
          <p:cNvPr id="4" name="Shape 2"/>
          <p:cNvSpPr/>
          <p:nvPr/>
        </p:nvSpPr>
        <p:spPr>
          <a:xfrm>
            <a:off x="1107948" y="1600200"/>
            <a:ext cx="512064" cy="512064"/>
          </a:xfrm>
          <a:prstGeom prst="ellipse">
            <a:avLst/>
          </a:prstGeom>
          <a:solidFill>
            <a:srgbClr val="223E68"/>
          </a:solidFill>
          <a:ln/>
        </p:spPr>
      </p:sp>
      <p:sp>
        <p:nvSpPr>
          <p:cNvPr id="5" name="Text 3"/>
          <p:cNvSpPr/>
          <p:nvPr/>
        </p:nvSpPr>
        <p:spPr>
          <a:xfrm>
            <a:off x="1107948"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2179320" y="1554480"/>
            <a:ext cx="256032" cy="512064"/>
          </a:xfrm>
          <a:prstGeom prst="rect">
            <a:avLst/>
          </a:prstGeom>
          <a:noFill/>
          <a:ln/>
        </p:spPr>
        <p:txBody>
          <a:bodyPr wrap="square" rtlCol="0" anchor="ctr"/>
          <a:lstStyle/>
          <a:p>
            <a:pPr algn="ctr" indent="0" marL="0">
              <a:buNone/>
            </a:pPr>
            <a:r>
              <a:rPr lang="en-US" sz="2200" b="1" dirty="0">
                <a:solidFill>
                  <a:srgbClr val="C9D6E8"/>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548640"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Raw Match Data</a:t>
            </a:r>
            <a:endParaRPr lang="en-US" sz="1250" dirty="0"/>
          </a:p>
        </p:txBody>
      </p:sp>
      <p:sp>
        <p:nvSpPr>
          <p:cNvPr id="8" name="Text 6"/>
          <p:cNvSpPr/>
          <p:nvPr/>
        </p:nvSpPr>
        <p:spPr>
          <a:xfrm>
            <a:off x="548640"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Cricket deliveries &amp; football match-stat records</a:t>
            </a:r>
            <a:endParaRPr lang="en-US" sz="1000" dirty="0"/>
          </a:p>
        </p:txBody>
      </p:sp>
      <p:sp>
        <p:nvSpPr>
          <p:cNvPr id="9" name="Shape 7"/>
          <p:cNvSpPr/>
          <p:nvPr/>
        </p:nvSpPr>
        <p:spPr>
          <a:xfrm>
            <a:off x="2994660" y="1600200"/>
            <a:ext cx="512064" cy="512064"/>
          </a:xfrm>
          <a:prstGeom prst="ellipse">
            <a:avLst/>
          </a:prstGeom>
          <a:solidFill>
            <a:srgbClr val="1B3A63"/>
          </a:solidFill>
          <a:ln/>
        </p:spPr>
      </p:sp>
      <p:sp>
        <p:nvSpPr>
          <p:cNvPr id="10" name="Text 8"/>
          <p:cNvSpPr/>
          <p:nvPr/>
        </p:nvSpPr>
        <p:spPr>
          <a:xfrm>
            <a:off x="2994660"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4066032" y="1554480"/>
            <a:ext cx="256032" cy="512064"/>
          </a:xfrm>
          <a:prstGeom prst="rect">
            <a:avLst/>
          </a:prstGeom>
          <a:noFill/>
          <a:ln/>
        </p:spPr>
        <p:txBody>
          <a:bodyPr wrap="square" rtlCol="0" anchor="ctr"/>
          <a:lstStyle/>
          <a:p>
            <a:pPr algn="ctr" indent="0" marL="0">
              <a:buNone/>
            </a:pPr>
            <a:r>
              <a:rPr lang="en-US" sz="2200" b="1" dirty="0">
                <a:solidFill>
                  <a:srgbClr val="C9D6E8"/>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2435352"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Feature Engineering</a:t>
            </a:r>
            <a:endParaRPr lang="en-US" sz="1250" dirty="0"/>
          </a:p>
        </p:txBody>
      </p:sp>
      <p:sp>
        <p:nvSpPr>
          <p:cNvPr id="13" name="Text 11"/>
          <p:cNvSpPr/>
          <p:nvPr/>
        </p:nvSpPr>
        <p:spPr>
          <a:xfrm>
            <a:off x="2435352"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Form, shots/wickets, venue &amp; head-to-head features</a:t>
            </a:r>
            <a:endParaRPr lang="en-US" sz="1000" dirty="0"/>
          </a:p>
        </p:txBody>
      </p:sp>
      <p:sp>
        <p:nvSpPr>
          <p:cNvPr id="14" name="Shape 12"/>
          <p:cNvSpPr/>
          <p:nvPr/>
        </p:nvSpPr>
        <p:spPr>
          <a:xfrm>
            <a:off x="4881372" y="1600200"/>
            <a:ext cx="512064" cy="512064"/>
          </a:xfrm>
          <a:prstGeom prst="ellipse">
            <a:avLst/>
          </a:prstGeom>
          <a:solidFill>
            <a:srgbClr val="223E68"/>
          </a:solidFill>
          <a:ln/>
        </p:spPr>
      </p:sp>
      <p:sp>
        <p:nvSpPr>
          <p:cNvPr id="15" name="Text 13"/>
          <p:cNvSpPr/>
          <p:nvPr/>
        </p:nvSpPr>
        <p:spPr>
          <a:xfrm>
            <a:off x="4881372"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5952744" y="1554480"/>
            <a:ext cx="256032" cy="512064"/>
          </a:xfrm>
          <a:prstGeom prst="rect">
            <a:avLst/>
          </a:prstGeom>
          <a:noFill/>
          <a:ln/>
        </p:spPr>
        <p:txBody>
          <a:bodyPr wrap="square" rtlCol="0" anchor="ctr"/>
          <a:lstStyle/>
          <a:p>
            <a:pPr algn="ctr" indent="0" marL="0">
              <a:buNone/>
            </a:pPr>
            <a:r>
              <a:rPr lang="en-US" sz="2200" b="1" dirty="0">
                <a:solidFill>
                  <a:srgbClr val="C9D6E8"/>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4322064"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Random Forest</a:t>
            </a:r>
            <a:endParaRPr lang="en-US" sz="1250" dirty="0"/>
          </a:p>
        </p:txBody>
      </p:sp>
      <p:sp>
        <p:nvSpPr>
          <p:cNvPr id="18" name="Text 16"/>
          <p:cNvSpPr/>
          <p:nvPr/>
        </p:nvSpPr>
        <p:spPr>
          <a:xfrm>
            <a:off x="4322064"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Baseline prediction + feature-importance ranking</a:t>
            </a:r>
            <a:endParaRPr lang="en-US" sz="1000" dirty="0"/>
          </a:p>
        </p:txBody>
      </p:sp>
      <p:sp>
        <p:nvSpPr>
          <p:cNvPr id="19" name="Shape 17"/>
          <p:cNvSpPr/>
          <p:nvPr/>
        </p:nvSpPr>
        <p:spPr>
          <a:xfrm>
            <a:off x="6768084" y="1600200"/>
            <a:ext cx="512064" cy="512064"/>
          </a:xfrm>
          <a:prstGeom prst="ellipse">
            <a:avLst/>
          </a:prstGeom>
          <a:solidFill>
            <a:srgbClr val="1B3A63"/>
          </a:solidFill>
          <a:ln/>
        </p:spPr>
      </p:sp>
      <p:sp>
        <p:nvSpPr>
          <p:cNvPr id="20" name="Text 18"/>
          <p:cNvSpPr/>
          <p:nvPr/>
        </p:nvSpPr>
        <p:spPr>
          <a:xfrm>
            <a:off x="6768084"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7839456" y="1554480"/>
            <a:ext cx="256032" cy="512064"/>
          </a:xfrm>
          <a:prstGeom prst="rect">
            <a:avLst/>
          </a:prstGeom>
          <a:noFill/>
          <a:ln/>
        </p:spPr>
        <p:txBody>
          <a:bodyPr wrap="square" rtlCol="0" anchor="ctr"/>
          <a:lstStyle/>
          <a:p>
            <a:pPr algn="ctr" indent="0" marL="0">
              <a:buNone/>
            </a:pPr>
            <a:r>
              <a:rPr lang="en-US" sz="2200" b="1" dirty="0">
                <a:solidFill>
                  <a:srgbClr val="C9D6E8"/>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6208776"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ANN Training</a:t>
            </a:r>
            <a:endParaRPr lang="en-US" sz="1250" dirty="0"/>
          </a:p>
        </p:txBody>
      </p:sp>
      <p:sp>
        <p:nvSpPr>
          <p:cNvPr id="23" name="Text 21"/>
          <p:cNvSpPr/>
          <p:nvPr/>
        </p:nvSpPr>
        <p:spPr>
          <a:xfrm>
            <a:off x="6208776"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Deep model learns non-linear feature interactions</a:t>
            </a:r>
            <a:endParaRPr lang="en-US" sz="1000" dirty="0"/>
          </a:p>
        </p:txBody>
      </p:sp>
      <p:sp>
        <p:nvSpPr>
          <p:cNvPr id="24" name="Shape 22"/>
          <p:cNvSpPr/>
          <p:nvPr/>
        </p:nvSpPr>
        <p:spPr>
          <a:xfrm>
            <a:off x="8654796" y="1600200"/>
            <a:ext cx="512064" cy="512064"/>
          </a:xfrm>
          <a:prstGeom prst="ellipse">
            <a:avLst/>
          </a:prstGeom>
          <a:solidFill>
            <a:srgbClr val="223E68"/>
          </a:solidFill>
          <a:ln/>
        </p:spPr>
      </p:sp>
      <p:sp>
        <p:nvSpPr>
          <p:cNvPr id="25" name="Text 23"/>
          <p:cNvSpPr/>
          <p:nvPr/>
        </p:nvSpPr>
        <p:spPr>
          <a:xfrm>
            <a:off x="8654796"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9726168" y="1554480"/>
            <a:ext cx="256032" cy="512064"/>
          </a:xfrm>
          <a:prstGeom prst="rect">
            <a:avLst/>
          </a:prstGeom>
          <a:noFill/>
          <a:ln/>
        </p:spPr>
        <p:txBody>
          <a:bodyPr wrap="square" rtlCol="0" anchor="ctr"/>
          <a:lstStyle/>
          <a:p>
            <a:pPr algn="ctr" indent="0" marL="0">
              <a:buNone/>
            </a:pPr>
            <a:r>
              <a:rPr lang="en-US" sz="2200" b="1" dirty="0">
                <a:solidFill>
                  <a:srgbClr val="C9D6E8"/>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8095488"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Model Comparison</a:t>
            </a:r>
            <a:endParaRPr lang="en-US" sz="1250" dirty="0"/>
          </a:p>
        </p:txBody>
      </p:sp>
      <p:sp>
        <p:nvSpPr>
          <p:cNvPr id="28" name="Text 26"/>
          <p:cNvSpPr/>
          <p:nvPr/>
        </p:nvSpPr>
        <p:spPr>
          <a:xfrm>
            <a:off x="8095488"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Accuracy, precision, recall &amp; F1-score evaluation</a:t>
            </a:r>
            <a:endParaRPr lang="en-US" sz="1000" dirty="0"/>
          </a:p>
        </p:txBody>
      </p:sp>
      <p:sp>
        <p:nvSpPr>
          <p:cNvPr id="29" name="Shape 27"/>
          <p:cNvSpPr/>
          <p:nvPr/>
        </p:nvSpPr>
        <p:spPr>
          <a:xfrm>
            <a:off x="10541508" y="1600200"/>
            <a:ext cx="512064" cy="512064"/>
          </a:xfrm>
          <a:prstGeom prst="ellipse">
            <a:avLst/>
          </a:prstGeom>
          <a:solidFill>
            <a:srgbClr val="1B3A63"/>
          </a:solidFill>
          <a:ln/>
        </p:spPr>
      </p:sp>
      <p:sp>
        <p:nvSpPr>
          <p:cNvPr id="30" name="Text 28"/>
          <p:cNvSpPr/>
          <p:nvPr/>
        </p:nvSpPr>
        <p:spPr>
          <a:xfrm>
            <a:off x="10541508" y="1600200"/>
            <a:ext cx="512064" cy="512064"/>
          </a:xfrm>
          <a:prstGeom prst="rect">
            <a:avLst/>
          </a:prstGeom>
          <a:noFill/>
          <a:ln/>
        </p:spPr>
        <p:txBody>
          <a:bodyPr wrap="square"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6</a:t>
            </a:r>
            <a:endParaRPr lang="en-US" sz="1800" dirty="0"/>
          </a:p>
        </p:txBody>
      </p:sp>
      <p:sp>
        <p:nvSpPr>
          <p:cNvPr id="31" name="Text 29"/>
          <p:cNvSpPr/>
          <p:nvPr/>
        </p:nvSpPr>
        <p:spPr>
          <a:xfrm>
            <a:off x="9982200" y="2258568"/>
            <a:ext cx="1630680" cy="685800"/>
          </a:xfrm>
          <a:prstGeom prst="rect">
            <a:avLst/>
          </a:prstGeom>
          <a:noFill/>
          <a:ln/>
        </p:spPr>
        <p:txBody>
          <a:bodyPr wrap="square" rtlCol="0" anchor="ctr"/>
          <a:lstStyle/>
          <a:p>
            <a:pPr algn="ctr" indent="0" marL="0">
              <a:lnSpc>
                <a:spcPct val="110000"/>
              </a:lnSpc>
              <a:buNone/>
            </a:pPr>
            <a:r>
              <a:rPr lang="en-US" sz="1250" b="1" dirty="0">
                <a:solidFill>
                  <a:srgbClr val="12233F"/>
                </a:solidFill>
                <a:latin typeface="Calibri" pitchFamily="34" charset="0"/>
                <a:ea typeface="Calibri" pitchFamily="34" charset="-122"/>
                <a:cs typeface="Calibri" pitchFamily="34" charset="-120"/>
              </a:rPr>
              <a:t>Predicted Outcome</a:t>
            </a:r>
            <a:endParaRPr lang="en-US" sz="1250" dirty="0"/>
          </a:p>
        </p:txBody>
      </p:sp>
      <p:sp>
        <p:nvSpPr>
          <p:cNvPr id="32" name="Text 30"/>
          <p:cNvSpPr/>
          <p:nvPr/>
        </p:nvSpPr>
        <p:spPr>
          <a:xfrm>
            <a:off x="9982200" y="2898648"/>
            <a:ext cx="1630680" cy="1188720"/>
          </a:xfrm>
          <a:prstGeom prst="rect">
            <a:avLst/>
          </a:prstGeom>
          <a:noFill/>
          <a:ln/>
        </p:spPr>
        <p:txBody>
          <a:bodyPr wrap="square" rtlCol="0" anchor="ctr"/>
          <a:lstStyle/>
          <a:p>
            <a:pPr algn="ctr" indent="0" marL="0">
              <a:lnSpc>
                <a:spcPct val="120000"/>
              </a:lnSpc>
              <a:buNone/>
            </a:pPr>
            <a:r>
              <a:rPr lang="en-US" sz="1000" dirty="0">
                <a:solidFill>
                  <a:srgbClr val="5B6472"/>
                </a:solidFill>
                <a:latin typeface="Calibri" pitchFamily="34" charset="0"/>
                <a:ea typeface="Calibri" pitchFamily="34" charset="-122"/>
                <a:cs typeface="Calibri" pitchFamily="34" charset="-120"/>
              </a:rPr>
              <a:t>Win / loss / draw probability, ready for reporting</a:t>
            </a:r>
            <a:endParaRPr lang="en-US" sz="1000" dirty="0"/>
          </a:p>
        </p:txBody>
      </p:sp>
      <p:sp>
        <p:nvSpPr>
          <p:cNvPr id="33" name="Shape 31"/>
          <p:cNvSpPr/>
          <p:nvPr/>
        </p:nvSpPr>
        <p:spPr>
          <a:xfrm>
            <a:off x="548640" y="5166360"/>
            <a:ext cx="11064240" cy="18288"/>
          </a:xfrm>
          <a:prstGeom prst="rect">
            <a:avLst/>
          </a:prstGeom>
          <a:solidFill>
            <a:srgbClr val="C9D6E8"/>
          </a:solidFill>
          <a:ln/>
        </p:spPr>
      </p:sp>
      <p:sp>
        <p:nvSpPr>
          <p:cNvPr id="34" name="Text 32"/>
          <p:cNvSpPr/>
          <p:nvPr/>
        </p:nvSpPr>
        <p:spPr>
          <a:xfrm>
            <a:off x="548640" y="5349240"/>
            <a:ext cx="11064240" cy="914400"/>
          </a:xfrm>
          <a:prstGeom prst="rect">
            <a:avLst/>
          </a:prstGeom>
          <a:noFill/>
          <a:ln/>
        </p:spPr>
        <p:txBody>
          <a:bodyPr wrap="square" rtlCol="0" anchor="ctr"/>
          <a:lstStyle/>
          <a:p>
            <a:pPr indent="0" marL="0">
              <a:lnSpc>
                <a:spcPct val="125000"/>
              </a:lnSpc>
              <a:buNone/>
            </a:pPr>
            <a:r>
              <a:rPr lang="en-US" sz="1250" i="1" dirty="0">
                <a:solidFill>
                  <a:srgbClr val="12233F"/>
                </a:solidFill>
                <a:latin typeface="Calibri" pitchFamily="34" charset="0"/>
                <a:ea typeface="Calibri" pitchFamily="34" charset="-122"/>
                <a:cs typeface="Calibri" pitchFamily="34" charset="-120"/>
              </a:rPr>
              <a:t>Random Forest delivers a robust, interpretable baseline and ranks the features that matter most, while the ANN is trained on the same feature set to learn deeper, non-linear patterns — together forming a dependable multi-sport outcome-prediction system.</a:t>
            </a:r>
            <a:endParaRPr lang="en-US" sz="1250" dirty="0"/>
          </a:p>
        </p:txBody>
      </p:sp>
      <p:sp>
        <p:nvSpPr>
          <p:cNvPr id="35" name="Text 33"/>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36" name="Text 34"/>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SYSTEM REQUIREMENTS</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Software &amp; Hardware Stack</a:t>
            </a:r>
            <a:endParaRPr lang="en-US" sz="2600" dirty="0"/>
          </a:p>
        </p:txBody>
      </p:sp>
      <p:sp>
        <p:nvSpPr>
          <p:cNvPr id="4" name="Text 2"/>
          <p:cNvSpPr/>
          <p:nvPr/>
        </p:nvSpPr>
        <p:spPr>
          <a:xfrm>
            <a:off x="548640" y="1234440"/>
            <a:ext cx="11064240" cy="640080"/>
          </a:xfrm>
          <a:prstGeom prst="rect">
            <a:avLst/>
          </a:prstGeom>
          <a:noFill/>
          <a:ln/>
        </p:spPr>
        <p:txBody>
          <a:bodyPr wrap="square" rtlCol="0" anchor="ctr"/>
          <a:lstStyle/>
          <a:p>
            <a:pPr indent="0" marL="0">
              <a:lnSpc>
                <a:spcPct val="125000"/>
              </a:lnSpc>
              <a:buNone/>
            </a:pPr>
            <a:r>
              <a:rPr lang="en-US" sz="1300" dirty="0">
                <a:solidFill>
                  <a:srgbClr val="12233F"/>
                </a:solidFill>
                <a:latin typeface="Calibri" pitchFamily="34" charset="0"/>
                <a:ea typeface="Calibri" pitchFamily="34" charset="-122"/>
                <a:cs typeface="Calibri" pitchFamily="34" charset="-120"/>
              </a:rPr>
              <a:t>Building a reliable dual-sport prediction system calls for data-processing libraries, both classical ML and deep-learning frameworks, and enough compute to train Random Forest and ANN models efficiently on historical match data.</a:t>
            </a:r>
            <a:endParaRPr lang="en-US" sz="1300" dirty="0"/>
          </a:p>
        </p:txBody>
      </p:sp>
      <p:sp>
        <p:nvSpPr>
          <p:cNvPr id="5" name="Shape 3"/>
          <p:cNvSpPr/>
          <p:nvPr/>
        </p:nvSpPr>
        <p:spPr>
          <a:xfrm>
            <a:off x="548640" y="2148840"/>
            <a:ext cx="5394960" cy="502920"/>
          </a:xfrm>
          <a:prstGeom prst="rect">
            <a:avLst/>
          </a:prstGeom>
          <a:solidFill>
            <a:srgbClr val="12233F"/>
          </a:solidFill>
          <a:ln/>
        </p:spPr>
      </p:sp>
      <p:sp>
        <p:nvSpPr>
          <p:cNvPr id="6" name="Text 4"/>
          <p:cNvSpPr/>
          <p:nvPr/>
        </p:nvSpPr>
        <p:spPr>
          <a:xfrm>
            <a:off x="548640" y="2148840"/>
            <a:ext cx="5394960" cy="502920"/>
          </a:xfrm>
          <a:prstGeom prst="rect">
            <a:avLst/>
          </a:prstGeom>
          <a:noFill/>
          <a:ln/>
        </p:spPr>
        <p:txBody>
          <a:bodyPr wrap="square" rtlCol="0" anchor="ctr"/>
          <a:lstStyle/>
          <a:p>
            <a:pPr algn="ctr" indent="0" marL="0">
              <a:buNone/>
            </a:pPr>
            <a:r>
              <a:rPr lang="en-US" sz="1300" b="1" spc="120" kern="0" dirty="0">
                <a:solidFill>
                  <a:srgbClr val="FFFFFF"/>
                </a:solidFill>
                <a:latin typeface="Calibri" pitchFamily="34" charset="0"/>
                <a:ea typeface="Calibri" pitchFamily="34" charset="-122"/>
                <a:cs typeface="Calibri" pitchFamily="34" charset="-120"/>
              </a:rPr>
              <a:t>SOFTWARE STACK</a:t>
            </a:r>
            <a:endParaRPr lang="en-US" sz="1300" dirty="0"/>
          </a:p>
        </p:txBody>
      </p:sp>
      <p:sp>
        <p:nvSpPr>
          <p:cNvPr id="7" name="Shape 5"/>
          <p:cNvSpPr/>
          <p:nvPr/>
        </p:nvSpPr>
        <p:spPr>
          <a:xfrm>
            <a:off x="548640" y="2651760"/>
            <a:ext cx="5394960" cy="3657600"/>
          </a:xfrm>
          <a:prstGeom prst="rect">
            <a:avLst/>
          </a:prstGeom>
          <a:solidFill>
            <a:srgbClr val="E8EEF7"/>
          </a:solidFill>
          <a:ln/>
        </p:spPr>
      </p:sp>
      <p:sp>
        <p:nvSpPr>
          <p:cNvPr id="8" name="Text 6"/>
          <p:cNvSpPr/>
          <p:nvPr/>
        </p:nvSpPr>
        <p:spPr>
          <a:xfrm>
            <a:off x="868680" y="2862072"/>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Python 3.8+</a:t>
            </a:r>
            <a:endParaRPr lang="en-US" sz="1250" dirty="0"/>
          </a:p>
        </p:txBody>
      </p:sp>
      <p:sp>
        <p:nvSpPr>
          <p:cNvPr id="9" name="Text 7"/>
          <p:cNvSpPr/>
          <p:nvPr/>
        </p:nvSpPr>
        <p:spPr>
          <a:xfrm>
            <a:off x="3246120" y="2862072"/>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Core development language</a:t>
            </a:r>
            <a:endParaRPr lang="en-US" sz="1050" dirty="0"/>
          </a:p>
        </p:txBody>
      </p:sp>
      <p:sp>
        <p:nvSpPr>
          <p:cNvPr id="10" name="Text 8"/>
          <p:cNvSpPr/>
          <p:nvPr/>
        </p:nvSpPr>
        <p:spPr>
          <a:xfrm>
            <a:off x="868680" y="3429000"/>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Scikit-learn</a:t>
            </a:r>
            <a:endParaRPr lang="en-US" sz="1250" dirty="0"/>
          </a:p>
        </p:txBody>
      </p:sp>
      <p:sp>
        <p:nvSpPr>
          <p:cNvPr id="11" name="Text 9"/>
          <p:cNvSpPr/>
          <p:nvPr/>
        </p:nvSpPr>
        <p:spPr>
          <a:xfrm>
            <a:off x="3246120" y="3429000"/>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Random Forest implementation</a:t>
            </a:r>
            <a:endParaRPr lang="en-US" sz="1050" dirty="0"/>
          </a:p>
        </p:txBody>
      </p:sp>
      <p:sp>
        <p:nvSpPr>
          <p:cNvPr id="12" name="Text 10"/>
          <p:cNvSpPr/>
          <p:nvPr/>
        </p:nvSpPr>
        <p:spPr>
          <a:xfrm>
            <a:off x="868680" y="3995928"/>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TensorFlow / Keras</a:t>
            </a:r>
            <a:endParaRPr lang="en-US" sz="1250" dirty="0"/>
          </a:p>
        </p:txBody>
      </p:sp>
      <p:sp>
        <p:nvSpPr>
          <p:cNvPr id="13" name="Text 11"/>
          <p:cNvSpPr/>
          <p:nvPr/>
        </p:nvSpPr>
        <p:spPr>
          <a:xfrm>
            <a:off x="3246120" y="3995928"/>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ANN implementation &amp; training</a:t>
            </a:r>
            <a:endParaRPr lang="en-US" sz="1050" dirty="0"/>
          </a:p>
        </p:txBody>
      </p:sp>
      <p:sp>
        <p:nvSpPr>
          <p:cNvPr id="14" name="Text 12"/>
          <p:cNvSpPr/>
          <p:nvPr/>
        </p:nvSpPr>
        <p:spPr>
          <a:xfrm>
            <a:off x="868680" y="4562856"/>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Pandas / NumPy</a:t>
            </a:r>
            <a:endParaRPr lang="en-US" sz="1250" dirty="0"/>
          </a:p>
        </p:txBody>
      </p:sp>
      <p:sp>
        <p:nvSpPr>
          <p:cNvPr id="15" name="Text 13"/>
          <p:cNvSpPr/>
          <p:nvPr/>
        </p:nvSpPr>
        <p:spPr>
          <a:xfrm>
            <a:off x="3246120" y="4562856"/>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Data handling &amp; preprocessing</a:t>
            </a:r>
            <a:endParaRPr lang="en-US" sz="1050" dirty="0"/>
          </a:p>
        </p:txBody>
      </p:sp>
      <p:sp>
        <p:nvSpPr>
          <p:cNvPr id="16" name="Text 14"/>
          <p:cNvSpPr/>
          <p:nvPr/>
        </p:nvSpPr>
        <p:spPr>
          <a:xfrm>
            <a:off x="868680" y="5129784"/>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Matplotlib / Seaborn</a:t>
            </a:r>
            <a:endParaRPr lang="en-US" sz="1250" dirty="0"/>
          </a:p>
        </p:txBody>
      </p:sp>
      <p:sp>
        <p:nvSpPr>
          <p:cNvPr id="17" name="Text 15"/>
          <p:cNvSpPr/>
          <p:nvPr/>
        </p:nvSpPr>
        <p:spPr>
          <a:xfrm>
            <a:off x="3246120" y="5129784"/>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Exploratory analysis &amp; visualization</a:t>
            </a:r>
            <a:endParaRPr lang="en-US" sz="1050" dirty="0"/>
          </a:p>
        </p:txBody>
      </p:sp>
      <p:sp>
        <p:nvSpPr>
          <p:cNvPr id="18" name="Text 16"/>
          <p:cNvSpPr/>
          <p:nvPr/>
        </p:nvSpPr>
        <p:spPr>
          <a:xfrm>
            <a:off x="868680" y="5696712"/>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Jupyter / Colab</a:t>
            </a:r>
            <a:endParaRPr lang="en-US" sz="1250" dirty="0"/>
          </a:p>
        </p:txBody>
      </p:sp>
      <p:sp>
        <p:nvSpPr>
          <p:cNvPr id="19" name="Text 17"/>
          <p:cNvSpPr/>
          <p:nvPr/>
        </p:nvSpPr>
        <p:spPr>
          <a:xfrm>
            <a:off x="3246120" y="5696712"/>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Model development environment</a:t>
            </a:r>
            <a:endParaRPr lang="en-US" sz="1050" dirty="0"/>
          </a:p>
        </p:txBody>
      </p:sp>
      <p:sp>
        <p:nvSpPr>
          <p:cNvPr id="20" name="Shape 18"/>
          <p:cNvSpPr/>
          <p:nvPr/>
        </p:nvSpPr>
        <p:spPr>
          <a:xfrm>
            <a:off x="6217920" y="2148840"/>
            <a:ext cx="5394960" cy="502920"/>
          </a:xfrm>
          <a:prstGeom prst="rect">
            <a:avLst/>
          </a:prstGeom>
          <a:solidFill>
            <a:srgbClr val="12233F"/>
          </a:solidFill>
          <a:ln/>
        </p:spPr>
      </p:sp>
      <p:sp>
        <p:nvSpPr>
          <p:cNvPr id="21" name="Text 19"/>
          <p:cNvSpPr/>
          <p:nvPr/>
        </p:nvSpPr>
        <p:spPr>
          <a:xfrm>
            <a:off x="6217920" y="2148840"/>
            <a:ext cx="5394960" cy="502920"/>
          </a:xfrm>
          <a:prstGeom prst="rect">
            <a:avLst/>
          </a:prstGeom>
          <a:noFill/>
          <a:ln/>
        </p:spPr>
        <p:txBody>
          <a:bodyPr wrap="square" rtlCol="0" anchor="ctr"/>
          <a:lstStyle/>
          <a:p>
            <a:pPr algn="ctr" indent="0" marL="0">
              <a:buNone/>
            </a:pPr>
            <a:r>
              <a:rPr lang="en-US" sz="1300" b="1" spc="120" kern="0" dirty="0">
                <a:solidFill>
                  <a:srgbClr val="FFFFFF"/>
                </a:solidFill>
                <a:latin typeface="Calibri" pitchFamily="34" charset="0"/>
                <a:ea typeface="Calibri" pitchFamily="34" charset="-122"/>
                <a:cs typeface="Calibri" pitchFamily="34" charset="-120"/>
              </a:rPr>
              <a:t>HARDWARE SETUP</a:t>
            </a:r>
            <a:endParaRPr lang="en-US" sz="1300" dirty="0"/>
          </a:p>
        </p:txBody>
      </p:sp>
      <p:sp>
        <p:nvSpPr>
          <p:cNvPr id="22" name="Shape 20"/>
          <p:cNvSpPr/>
          <p:nvPr/>
        </p:nvSpPr>
        <p:spPr>
          <a:xfrm>
            <a:off x="6217920" y="2651760"/>
            <a:ext cx="5394960" cy="3657600"/>
          </a:xfrm>
          <a:prstGeom prst="rect">
            <a:avLst/>
          </a:prstGeom>
          <a:solidFill>
            <a:srgbClr val="E8EEF7"/>
          </a:solidFill>
          <a:ln/>
        </p:spPr>
      </p:sp>
      <p:sp>
        <p:nvSpPr>
          <p:cNvPr id="23" name="Text 21"/>
          <p:cNvSpPr/>
          <p:nvPr/>
        </p:nvSpPr>
        <p:spPr>
          <a:xfrm>
            <a:off x="6537960" y="2862072"/>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Standard PC / Laptop</a:t>
            </a:r>
            <a:endParaRPr lang="en-US" sz="1250" dirty="0"/>
          </a:p>
        </p:txBody>
      </p:sp>
      <p:sp>
        <p:nvSpPr>
          <p:cNvPr id="24" name="Text 22"/>
          <p:cNvSpPr/>
          <p:nvPr/>
        </p:nvSpPr>
        <p:spPr>
          <a:xfrm>
            <a:off x="8915400" y="2862072"/>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Base compute platform</a:t>
            </a:r>
            <a:endParaRPr lang="en-US" sz="1050" dirty="0"/>
          </a:p>
        </p:txBody>
      </p:sp>
      <p:sp>
        <p:nvSpPr>
          <p:cNvPr id="25" name="Text 23"/>
          <p:cNvSpPr/>
          <p:nvPr/>
        </p:nvSpPr>
        <p:spPr>
          <a:xfrm>
            <a:off x="6537960" y="3429000"/>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8 GB RAM (min.)</a:t>
            </a:r>
            <a:endParaRPr lang="en-US" sz="1250" dirty="0"/>
          </a:p>
        </p:txBody>
      </p:sp>
      <p:sp>
        <p:nvSpPr>
          <p:cNvPr id="26" name="Text 24"/>
          <p:cNvSpPr/>
          <p:nvPr/>
        </p:nvSpPr>
        <p:spPr>
          <a:xfrm>
            <a:off x="8915400" y="3429000"/>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Recommended for smooth training</a:t>
            </a:r>
            <a:endParaRPr lang="en-US" sz="1050" dirty="0"/>
          </a:p>
        </p:txBody>
      </p:sp>
      <p:sp>
        <p:nvSpPr>
          <p:cNvPr id="27" name="Text 25"/>
          <p:cNvSpPr/>
          <p:nvPr/>
        </p:nvSpPr>
        <p:spPr>
          <a:xfrm>
            <a:off x="6537960" y="3995928"/>
            <a:ext cx="2331720" cy="457200"/>
          </a:xfrm>
          <a:prstGeom prst="rect">
            <a:avLst/>
          </a:prstGeom>
          <a:noFill/>
          <a:ln/>
        </p:spPr>
        <p:txBody>
          <a:bodyPr wrap="square" rtlCol="0" anchor="ctr"/>
          <a:lstStyle/>
          <a:p>
            <a:pPr indent="0" marL="0">
              <a:buNone/>
            </a:pPr>
            <a:r>
              <a:rPr lang="en-US" sz="1250" b="1" dirty="0">
                <a:solidFill>
                  <a:srgbClr val="12233F"/>
                </a:solidFill>
                <a:latin typeface="Calibri" pitchFamily="34" charset="0"/>
                <a:ea typeface="Calibri" pitchFamily="34" charset="-122"/>
                <a:cs typeface="Calibri" pitchFamily="34" charset="-120"/>
              </a:rPr>
              <a:t>GPU Support</a:t>
            </a:r>
            <a:endParaRPr lang="en-US" sz="1250" dirty="0"/>
          </a:p>
        </p:txBody>
      </p:sp>
      <p:sp>
        <p:nvSpPr>
          <p:cNvPr id="28" name="Text 26"/>
          <p:cNvSpPr/>
          <p:nvPr/>
        </p:nvSpPr>
        <p:spPr>
          <a:xfrm>
            <a:off x="8915400" y="3995928"/>
            <a:ext cx="2514600" cy="45720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Optional — accelerates ANN training</a:t>
            </a:r>
            <a:endParaRPr lang="en-US" sz="1050" dirty="0"/>
          </a:p>
        </p:txBody>
      </p:sp>
      <p:sp>
        <p:nvSpPr>
          <p:cNvPr id="29" name="Text 27"/>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30" name="Text 28"/>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Dataset Overview</a:t>
            </a:r>
            <a:endParaRPr lang="en-US" sz="2600" dirty="0"/>
          </a:p>
        </p:txBody>
      </p:sp>
      <p:sp>
        <p:nvSpPr>
          <p:cNvPr id="4" name="Text 2"/>
          <p:cNvSpPr/>
          <p:nvPr/>
        </p:nvSpPr>
        <p:spPr>
          <a:xfrm>
            <a:off x="548640" y="1234440"/>
            <a:ext cx="11064240" cy="548640"/>
          </a:xfrm>
          <a:prstGeom prst="rect">
            <a:avLst/>
          </a:prstGeom>
          <a:noFill/>
          <a:ln/>
        </p:spPr>
        <p:txBody>
          <a:bodyPr wrap="square" rtlCol="0" anchor="ctr"/>
          <a:lstStyle/>
          <a:p>
            <a:pPr indent="0" marL="0">
              <a:lnSpc>
                <a:spcPct val="125000"/>
              </a:lnSpc>
              <a:buNone/>
            </a:pPr>
            <a:r>
              <a:rPr lang="en-US" sz="1300" dirty="0">
                <a:solidFill>
                  <a:srgbClr val="12233F"/>
                </a:solidFill>
                <a:latin typeface="Calibri" pitchFamily="34" charset="0"/>
                <a:ea typeface="Calibri" pitchFamily="34" charset="-122"/>
                <a:cs typeface="Calibri" pitchFamily="34" charset="-120"/>
              </a:rPr>
              <a:t>EDA was performed on two public datasets: E0_2018-2019.csv, English Premier League match-level statistics, and deliveries.csv, ball-by-ball IPL cricket records.</a:t>
            </a:r>
            <a:endParaRPr lang="en-US" sz="1300" dirty="0"/>
          </a:p>
        </p:txBody>
      </p:sp>
      <p:sp>
        <p:nvSpPr>
          <p:cNvPr id="5" name="Shape 3"/>
          <p:cNvSpPr/>
          <p:nvPr/>
        </p:nvSpPr>
        <p:spPr>
          <a:xfrm>
            <a:off x="548640" y="1965960"/>
            <a:ext cx="5394960" cy="4206240"/>
          </a:xfrm>
          <a:prstGeom prst="rect">
            <a:avLst/>
          </a:prstGeom>
          <a:solidFill>
            <a:srgbClr val="E8EEF7"/>
          </a:solidFill>
          <a:ln/>
        </p:spPr>
      </p:sp>
      <p:sp>
        <p:nvSpPr>
          <p:cNvPr id="6" name="Text 4"/>
          <p:cNvSpPr/>
          <p:nvPr/>
        </p:nvSpPr>
        <p:spPr>
          <a:xfrm>
            <a:off x="822960" y="2148840"/>
            <a:ext cx="4846320" cy="365760"/>
          </a:xfrm>
          <a:prstGeom prst="rect">
            <a:avLst/>
          </a:prstGeom>
          <a:noFill/>
          <a:ln/>
        </p:spPr>
        <p:txBody>
          <a:bodyPr wrap="square" rtlCol="0" anchor="ctr"/>
          <a:lstStyle/>
          <a:p>
            <a:pPr indent="0" marL="0">
              <a:buNone/>
            </a:pPr>
            <a:r>
              <a:rPr lang="en-US" sz="1600" b="1" dirty="0">
                <a:solidFill>
                  <a:srgbClr val="12233F"/>
                </a:solidFill>
                <a:latin typeface="Cambria" pitchFamily="34" charset="0"/>
                <a:ea typeface="Cambria" pitchFamily="34" charset="-122"/>
                <a:cs typeface="Cambria" pitchFamily="34" charset="-120"/>
              </a:rPr>
              <a:t>Football — 380 EPL Matches (2018-19)</a:t>
            </a:r>
            <a:endParaRPr lang="en-US" sz="1600" dirty="0"/>
          </a:p>
        </p:txBody>
      </p:sp>
      <p:sp>
        <p:nvSpPr>
          <p:cNvPr id="7" name="Text 5"/>
          <p:cNvSpPr/>
          <p:nvPr/>
        </p:nvSpPr>
        <p:spPr>
          <a:xfrm>
            <a:off x="822960" y="2496312"/>
            <a:ext cx="4846320" cy="457200"/>
          </a:xfrm>
          <a:prstGeom prst="rect">
            <a:avLst/>
          </a:prstGeom>
          <a:noFill/>
          <a:ln/>
        </p:spPr>
        <p:txBody>
          <a:bodyPr wrap="square" rtlCol="0" anchor="ctr"/>
          <a:lstStyle/>
          <a:p>
            <a:pPr indent="0" marL="0">
              <a:lnSpc>
                <a:spcPct val="120000"/>
              </a:lnSpc>
              <a:buNone/>
            </a:pPr>
            <a:r>
              <a:rPr lang="en-US" sz="1050" i="1" dirty="0">
                <a:solidFill>
                  <a:srgbClr val="5B6472"/>
                </a:solidFill>
                <a:latin typeface="Calibri" pitchFamily="34" charset="0"/>
                <a:ea typeface="Calibri" pitchFamily="34" charset="-122"/>
                <a:cs typeface="Calibri" pitchFamily="34" charset="-120"/>
              </a:rPr>
              <a:t>Season-level match records with full-time &amp; half-time stats, shots, cards and betting odds.</a:t>
            </a:r>
            <a:endParaRPr lang="en-US" sz="1050" dirty="0"/>
          </a:p>
        </p:txBody>
      </p:sp>
      <p:sp>
        <p:nvSpPr>
          <p:cNvPr id="8" name="Text 6"/>
          <p:cNvSpPr/>
          <p:nvPr/>
        </p:nvSpPr>
        <p:spPr>
          <a:xfrm>
            <a:off x="822960" y="3108960"/>
            <a:ext cx="2377440" cy="274320"/>
          </a:xfrm>
          <a:prstGeom prst="rect">
            <a:avLst/>
          </a:prstGeom>
          <a:noFill/>
          <a:ln/>
        </p:spPr>
        <p:txBody>
          <a:bodyPr wrap="square"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CATEGORICAL</a:t>
            </a:r>
            <a:endParaRPr lang="en-US" sz="1050" dirty="0"/>
          </a:p>
        </p:txBody>
      </p:sp>
      <p:sp>
        <p:nvSpPr>
          <p:cNvPr id="9" name="Text 7"/>
          <p:cNvSpPr/>
          <p:nvPr/>
        </p:nvSpPr>
        <p:spPr>
          <a:xfrm>
            <a:off x="822960" y="3474720"/>
            <a:ext cx="2377440" cy="2468880"/>
          </a:xfrm>
          <a:prstGeom prst="rect">
            <a:avLst/>
          </a:prstGeom>
          <a:noFill/>
          <a:ln/>
        </p:spPr>
        <p:txBody>
          <a:bodyPr wrap="square" rtlCol="0" anchor="t"/>
          <a:lstStyle/>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HomeTeam / AwayTeam</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FTR (Result)</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HTR (HT Result)</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Referee</a:t>
            </a:r>
            <a:endParaRPr lang="en-US" sz="1050" dirty="0"/>
          </a:p>
        </p:txBody>
      </p:sp>
      <p:sp>
        <p:nvSpPr>
          <p:cNvPr id="10" name="Text 8"/>
          <p:cNvSpPr/>
          <p:nvPr/>
        </p:nvSpPr>
        <p:spPr>
          <a:xfrm>
            <a:off x="3337560" y="3108960"/>
            <a:ext cx="2377440" cy="274320"/>
          </a:xfrm>
          <a:prstGeom prst="rect">
            <a:avLst/>
          </a:prstGeom>
          <a:noFill/>
          <a:ln/>
        </p:spPr>
        <p:txBody>
          <a:bodyPr wrap="square"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NUMERICAL</a:t>
            </a:r>
            <a:endParaRPr lang="en-US" sz="1050" dirty="0"/>
          </a:p>
        </p:txBody>
      </p:sp>
      <p:sp>
        <p:nvSpPr>
          <p:cNvPr id="11" name="Text 9"/>
          <p:cNvSpPr/>
          <p:nvPr/>
        </p:nvSpPr>
        <p:spPr>
          <a:xfrm>
            <a:off x="3337560" y="3474720"/>
            <a:ext cx="2377440" cy="2468880"/>
          </a:xfrm>
          <a:prstGeom prst="rect">
            <a:avLst/>
          </a:prstGeom>
          <a:noFill/>
          <a:ln/>
        </p:spPr>
        <p:txBody>
          <a:bodyPr wrap="square" rtlCol="0" anchor="t"/>
          <a:lstStyle/>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FTHG / FTAG (Goals)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HS / AS (Shots)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HST / AST (On Target)</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HC / AC (Corners)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HY / AY (Cards)</a:t>
            </a:r>
            <a:endParaRPr lang="en-US" sz="1050" dirty="0"/>
          </a:p>
        </p:txBody>
      </p:sp>
      <p:sp>
        <p:nvSpPr>
          <p:cNvPr id="12" name="Shape 10"/>
          <p:cNvSpPr/>
          <p:nvPr/>
        </p:nvSpPr>
        <p:spPr>
          <a:xfrm>
            <a:off x="6217920" y="1965960"/>
            <a:ext cx="5394960" cy="4206240"/>
          </a:xfrm>
          <a:prstGeom prst="rect">
            <a:avLst/>
          </a:prstGeom>
          <a:solidFill>
            <a:srgbClr val="E8EEF7"/>
          </a:solidFill>
          <a:ln/>
        </p:spPr>
      </p:sp>
      <p:sp>
        <p:nvSpPr>
          <p:cNvPr id="13" name="Text 11"/>
          <p:cNvSpPr/>
          <p:nvPr/>
        </p:nvSpPr>
        <p:spPr>
          <a:xfrm>
            <a:off x="6492240" y="2148840"/>
            <a:ext cx="4846320" cy="365760"/>
          </a:xfrm>
          <a:prstGeom prst="rect">
            <a:avLst/>
          </a:prstGeom>
          <a:noFill/>
          <a:ln/>
        </p:spPr>
        <p:txBody>
          <a:bodyPr wrap="square" rtlCol="0" anchor="ctr"/>
          <a:lstStyle/>
          <a:p>
            <a:pPr indent="0" marL="0">
              <a:buNone/>
            </a:pPr>
            <a:r>
              <a:rPr lang="en-US" sz="1600" b="1" dirty="0">
                <a:solidFill>
                  <a:srgbClr val="12233F"/>
                </a:solidFill>
                <a:latin typeface="Cambria" pitchFamily="34" charset="0"/>
                <a:ea typeface="Cambria" pitchFamily="34" charset="-122"/>
                <a:cs typeface="Cambria" pitchFamily="34" charset="-120"/>
              </a:rPr>
              <a:t>Cricket — 260,920 IPL Deliveries</a:t>
            </a:r>
            <a:endParaRPr lang="en-US" sz="1600" dirty="0"/>
          </a:p>
        </p:txBody>
      </p:sp>
      <p:sp>
        <p:nvSpPr>
          <p:cNvPr id="14" name="Text 12"/>
          <p:cNvSpPr/>
          <p:nvPr/>
        </p:nvSpPr>
        <p:spPr>
          <a:xfrm>
            <a:off x="6492240" y="2496312"/>
            <a:ext cx="4846320" cy="457200"/>
          </a:xfrm>
          <a:prstGeom prst="rect">
            <a:avLst/>
          </a:prstGeom>
          <a:noFill/>
          <a:ln/>
        </p:spPr>
        <p:txBody>
          <a:bodyPr wrap="square" rtlCol="0" anchor="ctr"/>
          <a:lstStyle/>
          <a:p>
            <a:pPr indent="0" marL="0">
              <a:lnSpc>
                <a:spcPct val="120000"/>
              </a:lnSpc>
              <a:buNone/>
            </a:pPr>
            <a:r>
              <a:rPr lang="en-US" sz="1050" i="1" dirty="0">
                <a:solidFill>
                  <a:srgbClr val="5B6472"/>
                </a:solidFill>
                <a:latin typeface="Calibri" pitchFamily="34" charset="0"/>
                <a:ea typeface="Calibri" pitchFamily="34" charset="-122"/>
                <a:cs typeface="Calibri" pitchFamily="34" charset="-120"/>
              </a:rPr>
              <a:t>Ball-by-ball records across 1,095 matches, covering every delivery bowled.</a:t>
            </a:r>
            <a:endParaRPr lang="en-US" sz="1050" dirty="0"/>
          </a:p>
        </p:txBody>
      </p:sp>
      <p:sp>
        <p:nvSpPr>
          <p:cNvPr id="15" name="Text 13"/>
          <p:cNvSpPr/>
          <p:nvPr/>
        </p:nvSpPr>
        <p:spPr>
          <a:xfrm>
            <a:off x="6492240" y="3108960"/>
            <a:ext cx="2377440" cy="274320"/>
          </a:xfrm>
          <a:prstGeom prst="rect">
            <a:avLst/>
          </a:prstGeom>
          <a:noFill/>
          <a:ln/>
        </p:spPr>
        <p:txBody>
          <a:bodyPr wrap="square"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CATEGORICAL</a:t>
            </a:r>
            <a:endParaRPr lang="en-US" sz="1050" dirty="0"/>
          </a:p>
        </p:txBody>
      </p:sp>
      <p:sp>
        <p:nvSpPr>
          <p:cNvPr id="16" name="Text 14"/>
          <p:cNvSpPr/>
          <p:nvPr/>
        </p:nvSpPr>
        <p:spPr>
          <a:xfrm>
            <a:off x="6492240" y="3474720"/>
            <a:ext cx="2377440" cy="2468880"/>
          </a:xfrm>
          <a:prstGeom prst="rect">
            <a:avLst/>
          </a:prstGeom>
          <a:noFill/>
          <a:ln/>
        </p:spPr>
        <p:txBody>
          <a:bodyPr wrap="square" rtlCol="0" anchor="t"/>
          <a:lstStyle/>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batting_team / bowling_team</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dismissal_kind</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extras_type</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batter / bowler</a:t>
            </a:r>
            <a:endParaRPr lang="en-US" sz="1050" dirty="0"/>
          </a:p>
        </p:txBody>
      </p:sp>
      <p:sp>
        <p:nvSpPr>
          <p:cNvPr id="17" name="Text 15"/>
          <p:cNvSpPr/>
          <p:nvPr/>
        </p:nvSpPr>
        <p:spPr>
          <a:xfrm>
            <a:off x="9006840" y="3108960"/>
            <a:ext cx="2377440" cy="274320"/>
          </a:xfrm>
          <a:prstGeom prst="rect">
            <a:avLst/>
          </a:prstGeom>
          <a:noFill/>
          <a:ln/>
        </p:spPr>
        <p:txBody>
          <a:bodyPr wrap="square"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NUMERICAL</a:t>
            </a:r>
            <a:endParaRPr lang="en-US" sz="1050" dirty="0"/>
          </a:p>
        </p:txBody>
      </p:sp>
      <p:sp>
        <p:nvSpPr>
          <p:cNvPr id="18" name="Text 16"/>
          <p:cNvSpPr/>
          <p:nvPr/>
        </p:nvSpPr>
        <p:spPr>
          <a:xfrm>
            <a:off x="9006840" y="3474720"/>
            <a:ext cx="2377440" cy="2468880"/>
          </a:xfrm>
          <a:prstGeom prst="rect">
            <a:avLst/>
          </a:prstGeom>
          <a:noFill/>
          <a:ln/>
        </p:spPr>
        <p:txBody>
          <a:bodyPr wrap="square" rtlCol="0" anchor="t"/>
          <a:lstStyle/>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over / ball</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batsman_runs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extra_runs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total_runs</a:t>
            </a:r>
            <a:endParaRPr lang="en-US" sz="1050" dirty="0"/>
          </a:p>
          <a:p>
            <a:pPr indent="0" marL="0">
              <a:lnSpc>
                <a:spcPct val="135000"/>
              </a:lnSpc>
              <a:buNone/>
            </a:pPr>
            <a:r>
              <a:rPr lang="en-US" sz="1050" dirty="0">
                <a:solidFill>
                  <a:srgbClr val="12233F"/>
                </a:solidFill>
                <a:latin typeface="Calibri" pitchFamily="34" charset="0"/>
                <a:ea typeface="Calibri" pitchFamily="34" charset="-122"/>
                <a:cs typeface="Calibri" pitchFamily="34" charset="-120"/>
              </a:rPr>
              <a:t>is_wicket</a:t>
            </a:r>
            <a:endParaRPr lang="en-US" sz="1050" dirty="0"/>
          </a:p>
        </p:txBody>
      </p:sp>
      <p:sp>
        <p:nvSpPr>
          <p:cNvPr id="19" name="Text 17"/>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20" name="Text 18"/>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Football: Match-Result Distribution</a:t>
            </a:r>
            <a:endParaRPr lang="en-US" sz="2600" dirty="0"/>
          </a:p>
        </p:txBody>
      </p:sp>
      <p:pic>
        <p:nvPicPr>
          <p:cNvPr id="4" name="Image 0" descr="football_outcome.png">    </p:cNvPr>
          <p:cNvPicPr>
            <a:picLocks noChangeAspect="1"/>
          </p:cNvPicPr>
          <p:nvPr/>
        </p:nvPicPr>
        <p:blipFill>
          <a:blip r:embed="rId1"/>
          <a:stretch>
            <a:fillRect/>
          </a:stretch>
        </p:blipFill>
        <p:spPr>
          <a:xfrm>
            <a:off x="548640" y="1417320"/>
            <a:ext cx="6492240" cy="4370832"/>
          </a:xfrm>
          <a:prstGeom prst="rect">
            <a:avLst/>
          </a:prstGeom>
        </p:spPr>
      </p:pic>
      <p:sp>
        <p:nvSpPr>
          <p:cNvPr id="5" name="Text 2"/>
          <p:cNvSpPr/>
          <p:nvPr/>
        </p:nvSpPr>
        <p:spPr>
          <a:xfrm>
            <a:off x="7360920" y="1737360"/>
            <a:ext cx="4206240" cy="320040"/>
          </a:xfrm>
          <a:prstGeom prst="rect">
            <a:avLst/>
          </a:prstGeom>
          <a:noFill/>
          <a:ln/>
        </p:spPr>
        <p:txBody>
          <a:bodyPr wrap="square" rtlCol="0" anchor="ctr"/>
          <a:lstStyle/>
          <a:p>
            <a:pPr indent="0" marL="0">
              <a:buNone/>
            </a:pPr>
            <a:r>
              <a:rPr lang="en-US" sz="1200" b="1" spc="120" kern="0" dirty="0">
                <a:solidFill>
                  <a:srgbClr val="F5A623"/>
                </a:solidFill>
                <a:latin typeface="Calibri" pitchFamily="34" charset="0"/>
                <a:ea typeface="Calibri" pitchFamily="34" charset="-122"/>
                <a:cs typeface="Calibri" pitchFamily="34" charset="-120"/>
              </a:rPr>
              <a:t>OBSERVATION</a:t>
            </a:r>
            <a:endParaRPr lang="en-US" sz="1200" dirty="0"/>
          </a:p>
        </p:txBody>
      </p:sp>
      <p:sp>
        <p:nvSpPr>
          <p:cNvPr id="6" name="Text 3"/>
          <p:cNvSpPr/>
          <p:nvPr/>
        </p:nvSpPr>
        <p:spPr>
          <a:xfrm>
            <a:off x="7360920" y="2103120"/>
            <a:ext cx="4206240" cy="1463040"/>
          </a:xfrm>
          <a:prstGeom prst="rect">
            <a:avLst/>
          </a:prstGeom>
          <a:noFill/>
          <a:ln/>
        </p:spPr>
        <p:txBody>
          <a:bodyPr wrap="square" rtlCol="0" anchor="ctr"/>
          <a:lstStyle/>
          <a:p>
            <a:pPr indent="0" marL="0">
              <a:lnSpc>
                <a:spcPct val="130000"/>
              </a:lnSpc>
              <a:buNone/>
            </a:pPr>
            <a:r>
              <a:rPr lang="en-US" sz="1300" dirty="0">
                <a:solidFill>
                  <a:srgbClr val="12233F"/>
                </a:solidFill>
                <a:latin typeface="Calibri" pitchFamily="34" charset="0"/>
                <a:ea typeface="Calibri" pitchFamily="34" charset="-122"/>
                <a:cs typeface="Calibri" pitchFamily="34" charset="-120"/>
              </a:rPr>
              <a:t>Home wins account for 181 of 380 matches (47.6%) versus 128 away wins and 71 draws — a clear home-advantage signal the model must weight.</a:t>
            </a:r>
            <a:endParaRPr lang="en-US" sz="1300" dirty="0"/>
          </a:p>
        </p:txBody>
      </p:sp>
      <p:sp>
        <p:nvSpPr>
          <p:cNvPr id="7" name="Shape 4"/>
          <p:cNvSpPr/>
          <p:nvPr/>
        </p:nvSpPr>
        <p:spPr>
          <a:xfrm>
            <a:off x="7360920" y="3794760"/>
            <a:ext cx="4206240" cy="18288"/>
          </a:xfrm>
          <a:prstGeom prst="rect">
            <a:avLst/>
          </a:prstGeom>
          <a:solidFill>
            <a:srgbClr val="C9D6E8"/>
          </a:solidFill>
          <a:ln/>
        </p:spPr>
      </p:sp>
      <p:sp>
        <p:nvSpPr>
          <p:cNvPr id="8" name="Text 5"/>
          <p:cNvSpPr/>
          <p:nvPr/>
        </p:nvSpPr>
        <p:spPr>
          <a:xfrm>
            <a:off x="7360920" y="3977640"/>
            <a:ext cx="4206240" cy="1737360"/>
          </a:xfrm>
          <a:prstGeom prst="rect">
            <a:avLst/>
          </a:prstGeom>
          <a:noFill/>
          <a:ln/>
        </p:spPr>
        <p:txBody>
          <a:bodyPr wrap="square"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This class imbalance between home, away and draw outcomes needs to be accounted for during training and evaluation, e.g. via stratified sampling or weighted metrics.</a:t>
            </a:r>
            <a:endParaRPr lang="en-US" sz="1150" dirty="0"/>
          </a:p>
        </p:txBody>
      </p:sp>
      <p:sp>
        <p:nvSpPr>
          <p:cNvPr id="9" name="Text 6"/>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10" name="Text 7"/>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21792"/>
            <a:ext cx="10515600" cy="502920"/>
          </a:xfrm>
          <a:prstGeom prst="rect">
            <a:avLst/>
          </a:prstGeom>
          <a:noFill/>
          <a:ln/>
        </p:spPr>
        <p:txBody>
          <a:bodyPr wrap="square" rtlCol="0" anchor="ctr"/>
          <a:lstStyle/>
          <a:p>
            <a:pPr indent="0" marL="0">
              <a:buNone/>
            </a:pPr>
            <a:r>
              <a:rPr lang="en-US" sz="2400" b="1" dirty="0">
                <a:solidFill>
                  <a:srgbClr val="12233F"/>
                </a:solidFill>
                <a:latin typeface="Cambria" pitchFamily="34" charset="0"/>
                <a:ea typeface="Cambria" pitchFamily="34" charset="-122"/>
                <a:cs typeface="Cambria" pitchFamily="34" charset="-120"/>
              </a:rPr>
              <a:t>Football: Correlation Between Match Statistics</a:t>
            </a:r>
            <a:endParaRPr lang="en-US" sz="2400" dirty="0"/>
          </a:p>
        </p:txBody>
      </p:sp>
      <p:pic>
        <p:nvPicPr>
          <p:cNvPr id="4" name="Image 0" descr="football_corr.png">    </p:cNvPr>
          <p:cNvPicPr>
            <a:picLocks noChangeAspect="1"/>
          </p:cNvPicPr>
          <p:nvPr/>
        </p:nvPicPr>
        <p:blipFill>
          <a:blip r:embed="rId1"/>
          <a:stretch>
            <a:fillRect/>
          </a:stretch>
        </p:blipFill>
        <p:spPr>
          <a:xfrm>
            <a:off x="1417320" y="1417320"/>
            <a:ext cx="5852160" cy="4892040"/>
          </a:xfrm>
          <a:prstGeom prst="rect">
            <a:avLst/>
          </a:prstGeom>
        </p:spPr>
      </p:pic>
      <p:sp>
        <p:nvSpPr>
          <p:cNvPr id="5" name="Shape 2"/>
          <p:cNvSpPr/>
          <p:nvPr/>
        </p:nvSpPr>
        <p:spPr>
          <a:xfrm>
            <a:off x="7589520" y="1554480"/>
            <a:ext cx="4023360" cy="1051560"/>
          </a:xfrm>
          <a:prstGeom prst="rect">
            <a:avLst/>
          </a:prstGeom>
          <a:solidFill>
            <a:srgbClr val="12233F"/>
          </a:solidFill>
          <a:ln/>
        </p:spPr>
      </p:sp>
      <p:sp>
        <p:nvSpPr>
          <p:cNvPr id="6" name="Text 3"/>
          <p:cNvSpPr/>
          <p:nvPr/>
        </p:nvSpPr>
        <p:spPr>
          <a:xfrm>
            <a:off x="7818120" y="1645920"/>
            <a:ext cx="1188720" cy="457200"/>
          </a:xfrm>
          <a:prstGeom prst="rect">
            <a:avLst/>
          </a:prstGeom>
          <a:noFill/>
          <a:ln/>
        </p:spPr>
        <p:txBody>
          <a:bodyPr wrap="square" rtlCol="0" anchor="ctr"/>
          <a:lstStyle/>
          <a:p>
            <a:pPr indent="0" marL="0">
              <a:buNone/>
            </a:pPr>
            <a:r>
              <a:rPr lang="en-US" sz="2200" b="1" dirty="0">
                <a:solidFill>
                  <a:srgbClr val="F5A623"/>
                </a:solidFill>
                <a:latin typeface="Cambria" pitchFamily="34" charset="0"/>
                <a:ea typeface="Cambria" pitchFamily="34" charset="-122"/>
                <a:cs typeface="Cambria" pitchFamily="34" charset="-120"/>
              </a:rPr>
              <a:t>0.69</a:t>
            </a:r>
            <a:endParaRPr lang="en-US" sz="2200" dirty="0"/>
          </a:p>
        </p:txBody>
      </p:sp>
      <p:sp>
        <p:nvSpPr>
          <p:cNvPr id="7" name="Text 4"/>
          <p:cNvSpPr/>
          <p:nvPr/>
        </p:nvSpPr>
        <p:spPr>
          <a:xfrm>
            <a:off x="7818120" y="2148840"/>
            <a:ext cx="365760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Home Shots ↔ Shots on Target</a:t>
            </a:r>
            <a:endParaRPr lang="en-US" sz="1100" dirty="0"/>
          </a:p>
        </p:txBody>
      </p:sp>
      <p:sp>
        <p:nvSpPr>
          <p:cNvPr id="8" name="Shape 5"/>
          <p:cNvSpPr/>
          <p:nvPr/>
        </p:nvSpPr>
        <p:spPr>
          <a:xfrm>
            <a:off x="7589520" y="2788920"/>
            <a:ext cx="4023360" cy="1051560"/>
          </a:xfrm>
          <a:prstGeom prst="rect">
            <a:avLst/>
          </a:prstGeom>
          <a:solidFill>
            <a:srgbClr val="1B3A63"/>
          </a:solidFill>
          <a:ln/>
        </p:spPr>
      </p:sp>
      <p:sp>
        <p:nvSpPr>
          <p:cNvPr id="9" name="Text 6"/>
          <p:cNvSpPr/>
          <p:nvPr/>
        </p:nvSpPr>
        <p:spPr>
          <a:xfrm>
            <a:off x="7818120" y="2880360"/>
            <a:ext cx="1188720" cy="457200"/>
          </a:xfrm>
          <a:prstGeom prst="rect">
            <a:avLst/>
          </a:prstGeom>
          <a:noFill/>
          <a:ln/>
        </p:spPr>
        <p:txBody>
          <a:bodyPr wrap="square" rtlCol="0" anchor="ctr"/>
          <a:lstStyle/>
          <a:p>
            <a:pPr indent="0" marL="0">
              <a:buNone/>
            </a:pPr>
            <a:r>
              <a:rPr lang="en-US" sz="2200" b="1" dirty="0">
                <a:solidFill>
                  <a:srgbClr val="F5A623"/>
                </a:solidFill>
                <a:latin typeface="Cambria" pitchFamily="34" charset="0"/>
                <a:ea typeface="Cambria" pitchFamily="34" charset="-122"/>
                <a:cs typeface="Cambria" pitchFamily="34" charset="-120"/>
              </a:rPr>
              <a:t>0.59</a:t>
            </a:r>
            <a:endParaRPr lang="en-US" sz="2200" dirty="0"/>
          </a:p>
        </p:txBody>
      </p:sp>
      <p:sp>
        <p:nvSpPr>
          <p:cNvPr id="10" name="Text 7"/>
          <p:cNvSpPr/>
          <p:nvPr/>
        </p:nvSpPr>
        <p:spPr>
          <a:xfrm>
            <a:off x="7818120" y="3383280"/>
            <a:ext cx="3657600" cy="365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Home Shots on Target ↔ Goals Scored</a:t>
            </a:r>
            <a:endParaRPr lang="en-US" sz="1100" dirty="0"/>
          </a:p>
        </p:txBody>
      </p:sp>
      <p:sp>
        <p:nvSpPr>
          <p:cNvPr id="11" name="Text 8"/>
          <p:cNvSpPr/>
          <p:nvPr/>
        </p:nvSpPr>
        <p:spPr>
          <a:xfrm>
            <a:off x="7589520" y="4114800"/>
            <a:ext cx="4023360" cy="2194560"/>
          </a:xfrm>
          <a:prstGeom prst="rect">
            <a:avLst/>
          </a:prstGeom>
          <a:noFill/>
          <a:ln/>
        </p:spPr>
        <p:txBody>
          <a:bodyPr wrap="square" rtlCol="0" anchor="ctr"/>
          <a:lstStyle/>
          <a:p>
            <a:pPr indent="0" marL="0">
              <a:lnSpc>
                <a:spcPct val="130000"/>
              </a:lnSpc>
              <a:buNone/>
            </a:pPr>
            <a:r>
              <a:rPr lang="en-US" sz="1200" dirty="0">
                <a:solidFill>
                  <a:srgbClr val="12233F"/>
                </a:solidFill>
                <a:latin typeface="Calibri" pitchFamily="34" charset="0"/>
                <a:ea typeface="Calibri" pitchFamily="34" charset="-122"/>
                <a:cs typeface="Calibri" pitchFamily="34" charset="-120"/>
              </a:rPr>
              <a:t>Shot-quality metrics (shots on target) are far more predictive of goals than raw shot counts — a strong, reusable feature for the outcome-prediction model. Corners and fouls stay weakly correlated with the rest, meaning they add distinct information rather than duplicating other features.</a:t>
            </a:r>
            <a:endParaRPr lang="en-US" sz="1200" dirty="0"/>
          </a:p>
        </p:txBody>
      </p:sp>
      <p:sp>
        <p:nvSpPr>
          <p:cNvPr id="12" name="Text 9"/>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13" name="Text 10"/>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Cricket: Runs-per-Delivery Distribution</a:t>
            </a:r>
            <a:endParaRPr lang="en-US" sz="2600" dirty="0"/>
          </a:p>
        </p:txBody>
      </p:sp>
      <p:pic>
        <p:nvPicPr>
          <p:cNvPr id="4" name="Image 0" descr="cricket_runs.png">    </p:cNvPr>
          <p:cNvPicPr>
            <a:picLocks noChangeAspect="1"/>
          </p:cNvPicPr>
          <p:nvPr/>
        </p:nvPicPr>
        <p:blipFill>
          <a:blip r:embed="rId1"/>
          <a:stretch>
            <a:fillRect/>
          </a:stretch>
        </p:blipFill>
        <p:spPr>
          <a:xfrm>
            <a:off x="548640" y="1417320"/>
            <a:ext cx="6492240" cy="4370832"/>
          </a:xfrm>
          <a:prstGeom prst="rect">
            <a:avLst/>
          </a:prstGeom>
        </p:spPr>
      </p:pic>
      <p:sp>
        <p:nvSpPr>
          <p:cNvPr id="5" name="Text 2"/>
          <p:cNvSpPr/>
          <p:nvPr/>
        </p:nvSpPr>
        <p:spPr>
          <a:xfrm>
            <a:off x="7360920" y="1737360"/>
            <a:ext cx="4206240" cy="320040"/>
          </a:xfrm>
          <a:prstGeom prst="rect">
            <a:avLst/>
          </a:prstGeom>
          <a:noFill/>
          <a:ln/>
        </p:spPr>
        <p:txBody>
          <a:bodyPr wrap="square" rtlCol="0" anchor="ctr"/>
          <a:lstStyle/>
          <a:p>
            <a:pPr indent="0" marL="0">
              <a:buNone/>
            </a:pPr>
            <a:r>
              <a:rPr lang="en-US" sz="1200" b="1" spc="120" kern="0" dirty="0">
                <a:solidFill>
                  <a:srgbClr val="F5A623"/>
                </a:solidFill>
                <a:latin typeface="Calibri" pitchFamily="34" charset="0"/>
                <a:ea typeface="Calibri" pitchFamily="34" charset="-122"/>
                <a:cs typeface="Calibri" pitchFamily="34" charset="-120"/>
              </a:rPr>
              <a:t>OBSERVATION</a:t>
            </a:r>
            <a:endParaRPr lang="en-US" sz="1200" dirty="0"/>
          </a:p>
        </p:txBody>
      </p:sp>
      <p:sp>
        <p:nvSpPr>
          <p:cNvPr id="6" name="Text 3"/>
          <p:cNvSpPr/>
          <p:nvPr/>
        </p:nvSpPr>
        <p:spPr>
          <a:xfrm>
            <a:off x="7360920" y="2103120"/>
            <a:ext cx="4206240" cy="1645920"/>
          </a:xfrm>
          <a:prstGeom prst="rect">
            <a:avLst/>
          </a:prstGeom>
          <a:noFill/>
          <a:ln/>
        </p:spPr>
        <p:txBody>
          <a:bodyPr wrap="square" rtlCol="0" anchor="ctr"/>
          <a:lstStyle/>
          <a:p>
            <a:pPr indent="0" marL="0">
              <a:lnSpc>
                <a:spcPct val="130000"/>
              </a:lnSpc>
              <a:buNone/>
            </a:pPr>
            <a:r>
              <a:rPr lang="en-US" sz="1300" dirty="0">
                <a:solidFill>
                  <a:srgbClr val="12233F"/>
                </a:solidFill>
                <a:latin typeface="Calibri" pitchFamily="34" charset="0"/>
                <a:ea typeface="Calibri" pitchFamily="34" charset="-122"/>
                <a:cs typeface="Calibri" pitchFamily="34" charset="-120"/>
              </a:rPr>
              <a:t>Dot balls and singles make up over 77% of all 260,920 deliveries, while boundaries (4s and 6s) contribute just under 17% — runs are earned in small increments far more often than in bursts.</a:t>
            </a:r>
            <a:endParaRPr lang="en-US" sz="1300" dirty="0"/>
          </a:p>
        </p:txBody>
      </p:sp>
      <p:sp>
        <p:nvSpPr>
          <p:cNvPr id="7" name="Shape 4"/>
          <p:cNvSpPr/>
          <p:nvPr/>
        </p:nvSpPr>
        <p:spPr>
          <a:xfrm>
            <a:off x="7360920" y="3931920"/>
            <a:ext cx="4206240" cy="18288"/>
          </a:xfrm>
          <a:prstGeom prst="rect">
            <a:avLst/>
          </a:prstGeom>
          <a:solidFill>
            <a:srgbClr val="C9D6E8"/>
          </a:solidFill>
          <a:ln/>
        </p:spPr>
      </p:sp>
      <p:sp>
        <p:nvSpPr>
          <p:cNvPr id="8" name="Text 5"/>
          <p:cNvSpPr/>
          <p:nvPr/>
        </p:nvSpPr>
        <p:spPr>
          <a:xfrm>
            <a:off x="7360920" y="4114800"/>
            <a:ext cx="4206240" cy="1737360"/>
          </a:xfrm>
          <a:prstGeom prst="rect">
            <a:avLst/>
          </a:prstGeom>
          <a:noFill/>
          <a:ln/>
        </p:spPr>
        <p:txBody>
          <a:bodyPr wrap="square"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Ball-by-ball run distribution can be aggregated into over-level or innings-level run-rate features — a key input alongside wickets for cricket-specific model design.</a:t>
            </a:r>
            <a:endParaRPr lang="en-US" sz="1150" dirty="0"/>
          </a:p>
        </p:txBody>
      </p:sp>
      <p:sp>
        <p:nvSpPr>
          <p:cNvPr id="9" name="Text 6"/>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10" name="Text 7"/>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600" b="1" dirty="0">
                <a:solidFill>
                  <a:srgbClr val="12233F"/>
                </a:solidFill>
                <a:latin typeface="Cambria" pitchFamily="34" charset="0"/>
                <a:ea typeface="Cambria" pitchFamily="34" charset="-122"/>
                <a:cs typeface="Cambria" pitchFamily="34" charset="-120"/>
              </a:rPr>
              <a:t>Cricket: Dismissal-Kind Breakdown</a:t>
            </a:r>
            <a:endParaRPr lang="en-US" sz="2600" dirty="0"/>
          </a:p>
        </p:txBody>
      </p:sp>
      <p:pic>
        <p:nvPicPr>
          <p:cNvPr id="4" name="Image 0" descr="cricket_dismissals.png">    </p:cNvPr>
          <p:cNvPicPr>
            <a:picLocks noChangeAspect="1"/>
          </p:cNvPicPr>
          <p:nvPr/>
        </p:nvPicPr>
        <p:blipFill>
          <a:blip r:embed="rId1"/>
          <a:stretch>
            <a:fillRect/>
          </a:stretch>
        </p:blipFill>
        <p:spPr>
          <a:xfrm>
            <a:off x="548640" y="1417320"/>
            <a:ext cx="6492240" cy="4370832"/>
          </a:xfrm>
          <a:prstGeom prst="rect">
            <a:avLst/>
          </a:prstGeom>
        </p:spPr>
      </p:pic>
      <p:sp>
        <p:nvSpPr>
          <p:cNvPr id="5" name="Text 2"/>
          <p:cNvSpPr/>
          <p:nvPr/>
        </p:nvSpPr>
        <p:spPr>
          <a:xfrm>
            <a:off x="7360920" y="1737360"/>
            <a:ext cx="4206240" cy="320040"/>
          </a:xfrm>
          <a:prstGeom prst="rect">
            <a:avLst/>
          </a:prstGeom>
          <a:noFill/>
          <a:ln/>
        </p:spPr>
        <p:txBody>
          <a:bodyPr wrap="square" rtlCol="0" anchor="ctr"/>
          <a:lstStyle/>
          <a:p>
            <a:pPr indent="0" marL="0">
              <a:buNone/>
            </a:pPr>
            <a:r>
              <a:rPr lang="en-US" sz="1200" b="1" spc="120" kern="0" dirty="0">
                <a:solidFill>
                  <a:srgbClr val="F5A623"/>
                </a:solidFill>
                <a:latin typeface="Calibri" pitchFamily="34" charset="0"/>
                <a:ea typeface="Calibri" pitchFamily="34" charset="-122"/>
                <a:cs typeface="Calibri" pitchFamily="34" charset="-120"/>
              </a:rPr>
              <a:t>OBSERVATION</a:t>
            </a:r>
            <a:endParaRPr lang="en-US" sz="1200" dirty="0"/>
          </a:p>
        </p:txBody>
      </p:sp>
      <p:sp>
        <p:nvSpPr>
          <p:cNvPr id="6" name="Text 3"/>
          <p:cNvSpPr/>
          <p:nvPr/>
        </p:nvSpPr>
        <p:spPr>
          <a:xfrm>
            <a:off x="7360920" y="2103120"/>
            <a:ext cx="4206240" cy="1280160"/>
          </a:xfrm>
          <a:prstGeom prst="rect">
            <a:avLst/>
          </a:prstGeom>
          <a:noFill/>
          <a:ln/>
        </p:spPr>
        <p:txBody>
          <a:bodyPr wrap="square" rtlCol="0" anchor="ctr"/>
          <a:lstStyle/>
          <a:p>
            <a:pPr indent="0" marL="0">
              <a:lnSpc>
                <a:spcPct val="130000"/>
              </a:lnSpc>
              <a:buNone/>
            </a:pPr>
            <a:r>
              <a:rPr lang="en-US" sz="1300" dirty="0">
                <a:solidFill>
                  <a:srgbClr val="12233F"/>
                </a:solidFill>
                <a:latin typeface="Calibri" pitchFamily="34" charset="0"/>
                <a:ea typeface="Calibri" pitchFamily="34" charset="-122"/>
                <a:cs typeface="Calibri" pitchFamily="34" charset="-120"/>
              </a:rPr>
              <a:t>Catches account for 8,063 of 12,950 wickets (62%) — more than four times the next-largest category, bowled (2,212).</a:t>
            </a:r>
            <a:endParaRPr lang="en-US" sz="1300" dirty="0"/>
          </a:p>
        </p:txBody>
      </p:sp>
      <p:sp>
        <p:nvSpPr>
          <p:cNvPr id="7" name="Shape 4"/>
          <p:cNvSpPr/>
          <p:nvPr/>
        </p:nvSpPr>
        <p:spPr>
          <a:xfrm>
            <a:off x="7360920" y="3566160"/>
            <a:ext cx="4206240" cy="18288"/>
          </a:xfrm>
          <a:prstGeom prst="rect">
            <a:avLst/>
          </a:prstGeom>
          <a:solidFill>
            <a:srgbClr val="C9D6E8"/>
          </a:solidFill>
          <a:ln/>
        </p:spPr>
      </p:sp>
      <p:sp>
        <p:nvSpPr>
          <p:cNvPr id="8" name="Text 5"/>
          <p:cNvSpPr/>
          <p:nvPr/>
        </p:nvSpPr>
        <p:spPr>
          <a:xfrm>
            <a:off x="7360920" y="3749040"/>
            <a:ext cx="4206240" cy="2011680"/>
          </a:xfrm>
          <a:prstGeom prst="rect">
            <a:avLst/>
          </a:prstGeom>
          <a:noFill/>
          <a:ln/>
        </p:spPr>
        <p:txBody>
          <a:bodyPr wrap="square"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Fielding quality has an outsized effect on wicket totals, suggesting fielding-side team-strength features are worth engineering alongside bowling statistics.</a:t>
            </a:r>
            <a:endParaRPr lang="en-US" sz="1150" dirty="0"/>
          </a:p>
        </p:txBody>
      </p:sp>
      <p:sp>
        <p:nvSpPr>
          <p:cNvPr id="9" name="Text 6"/>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10" name="Text 7"/>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KEY OBSERVATIONS</a:t>
            </a:r>
            <a:endParaRPr lang="en-US" sz="1200" dirty="0"/>
          </a:p>
        </p:txBody>
      </p:sp>
      <p:sp>
        <p:nvSpPr>
          <p:cNvPr id="3" name="Text 1"/>
          <p:cNvSpPr/>
          <p:nvPr/>
        </p:nvSpPr>
        <p:spPr>
          <a:xfrm>
            <a:off x="548640" y="621792"/>
            <a:ext cx="7315200" cy="5029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Observations</a:t>
            </a:r>
            <a:endParaRPr lang="en-US" sz="2800" dirty="0"/>
          </a:p>
        </p:txBody>
      </p:sp>
      <p:sp>
        <p:nvSpPr>
          <p:cNvPr id="4" name="Shape 2"/>
          <p:cNvSpPr/>
          <p:nvPr/>
        </p:nvSpPr>
        <p:spPr>
          <a:xfrm>
            <a:off x="548640" y="1463040"/>
            <a:ext cx="5349240" cy="2331720"/>
          </a:xfrm>
          <a:prstGeom prst="rect">
            <a:avLst/>
          </a:prstGeom>
          <a:solidFill>
            <a:srgbClr val="223E68"/>
          </a:solidFill>
          <a:ln/>
        </p:spPr>
      </p:sp>
      <p:sp>
        <p:nvSpPr>
          <p:cNvPr id="5" name="Shape 3"/>
          <p:cNvSpPr/>
          <p:nvPr/>
        </p:nvSpPr>
        <p:spPr>
          <a:xfrm>
            <a:off x="822960" y="1737360"/>
            <a:ext cx="502920" cy="502920"/>
          </a:xfrm>
          <a:prstGeom prst="ellipse">
            <a:avLst/>
          </a:prstGeom>
          <a:solidFill>
            <a:srgbClr val="F5A623"/>
          </a:solidFill>
          <a:ln/>
        </p:spPr>
      </p:sp>
      <p:sp>
        <p:nvSpPr>
          <p:cNvPr id="6" name="Text 4"/>
          <p:cNvSpPr/>
          <p:nvPr/>
        </p:nvSpPr>
        <p:spPr>
          <a:xfrm>
            <a:off x="822960" y="1737360"/>
            <a:ext cx="502920" cy="502920"/>
          </a:xfrm>
          <a:prstGeom prst="rect">
            <a:avLst/>
          </a:prstGeom>
          <a:noFill/>
          <a:ln/>
        </p:spPr>
        <p:txBody>
          <a:bodyPr wrap="square" rtlCol="0" anchor="ctr"/>
          <a:lstStyle/>
          <a:p>
            <a:pPr algn="ctr" indent="0" marL="0">
              <a:buNone/>
            </a:pPr>
            <a:r>
              <a:rPr lang="en-US" sz="2000" b="1" dirty="0">
                <a:solidFill>
                  <a:srgbClr val="12233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719072"/>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Home Advantage</a:t>
            </a:r>
            <a:endParaRPr lang="en-US" sz="1500" dirty="0"/>
          </a:p>
        </p:txBody>
      </p:sp>
      <p:sp>
        <p:nvSpPr>
          <p:cNvPr id="8" name="Text 6"/>
          <p:cNvSpPr/>
          <p:nvPr/>
        </p:nvSpPr>
        <p:spPr>
          <a:xfrm>
            <a:off x="1508760" y="2212848"/>
            <a:ext cx="4114800" cy="1417320"/>
          </a:xfrm>
          <a:prstGeom prst="rect">
            <a:avLst/>
          </a:prstGeom>
          <a:noFill/>
          <a:ln/>
        </p:spPr>
        <p:txBody>
          <a:bodyPr wrap="square" rtlCol="0" anchor="ctr"/>
          <a:lstStyle/>
          <a:p>
            <a:pPr indent="0" marL="0">
              <a:lnSpc>
                <a:spcPct val="130000"/>
              </a:lnSpc>
              <a:buNone/>
            </a:pPr>
            <a:r>
              <a:rPr lang="en-US" sz="1150" dirty="0">
                <a:solidFill>
                  <a:srgbClr val="9FB3CC"/>
                </a:solidFill>
                <a:latin typeface="Calibri" pitchFamily="34" charset="0"/>
                <a:ea typeface="Calibri" pitchFamily="34" charset="-122"/>
                <a:cs typeface="Calibri" pitchFamily="34" charset="-120"/>
              </a:rPr>
              <a:t>Home teams win 47.6% of EPL matches — a strong prior feature for football outcome models.</a:t>
            </a:r>
            <a:endParaRPr lang="en-US" sz="1150" dirty="0"/>
          </a:p>
        </p:txBody>
      </p:sp>
      <p:sp>
        <p:nvSpPr>
          <p:cNvPr id="9" name="Shape 7"/>
          <p:cNvSpPr/>
          <p:nvPr/>
        </p:nvSpPr>
        <p:spPr>
          <a:xfrm>
            <a:off x="6217920" y="1463040"/>
            <a:ext cx="5349240" cy="2331720"/>
          </a:xfrm>
          <a:prstGeom prst="rect">
            <a:avLst/>
          </a:prstGeom>
          <a:solidFill>
            <a:srgbClr val="223E68"/>
          </a:solidFill>
          <a:ln/>
        </p:spPr>
      </p:sp>
      <p:sp>
        <p:nvSpPr>
          <p:cNvPr id="10" name="Shape 8"/>
          <p:cNvSpPr/>
          <p:nvPr/>
        </p:nvSpPr>
        <p:spPr>
          <a:xfrm>
            <a:off x="6492240" y="1737360"/>
            <a:ext cx="502920" cy="502920"/>
          </a:xfrm>
          <a:prstGeom prst="ellipse">
            <a:avLst/>
          </a:prstGeom>
          <a:solidFill>
            <a:srgbClr val="F5A623"/>
          </a:solidFill>
          <a:ln/>
        </p:spPr>
      </p:sp>
      <p:sp>
        <p:nvSpPr>
          <p:cNvPr id="11" name="Text 9"/>
          <p:cNvSpPr/>
          <p:nvPr/>
        </p:nvSpPr>
        <p:spPr>
          <a:xfrm>
            <a:off x="6492240" y="1737360"/>
            <a:ext cx="502920" cy="502920"/>
          </a:xfrm>
          <a:prstGeom prst="rect">
            <a:avLst/>
          </a:prstGeom>
          <a:noFill/>
          <a:ln/>
        </p:spPr>
        <p:txBody>
          <a:bodyPr wrap="square" rtlCol="0" anchor="ctr"/>
          <a:lstStyle/>
          <a:p>
            <a:pPr algn="ctr" indent="0" marL="0">
              <a:buNone/>
            </a:pPr>
            <a:r>
              <a:rPr lang="en-US" sz="2000" b="1" dirty="0">
                <a:solidFill>
                  <a:srgbClr val="12233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7178040" y="1719072"/>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Shot Quality Predicts Goals</a:t>
            </a:r>
            <a:endParaRPr lang="en-US" sz="1500" dirty="0"/>
          </a:p>
        </p:txBody>
      </p:sp>
      <p:sp>
        <p:nvSpPr>
          <p:cNvPr id="13" name="Text 11"/>
          <p:cNvSpPr/>
          <p:nvPr/>
        </p:nvSpPr>
        <p:spPr>
          <a:xfrm>
            <a:off x="7178040" y="2212848"/>
            <a:ext cx="4114800" cy="1417320"/>
          </a:xfrm>
          <a:prstGeom prst="rect">
            <a:avLst/>
          </a:prstGeom>
          <a:noFill/>
          <a:ln/>
        </p:spPr>
        <p:txBody>
          <a:bodyPr wrap="square" rtlCol="0" anchor="ctr"/>
          <a:lstStyle/>
          <a:p>
            <a:pPr indent="0" marL="0">
              <a:lnSpc>
                <a:spcPct val="130000"/>
              </a:lnSpc>
              <a:buNone/>
            </a:pPr>
            <a:r>
              <a:rPr lang="en-US" sz="1150" dirty="0">
                <a:solidFill>
                  <a:srgbClr val="9FB3CC"/>
                </a:solidFill>
                <a:latin typeface="Calibri" pitchFamily="34" charset="0"/>
                <a:ea typeface="Calibri" pitchFamily="34" charset="-122"/>
                <a:cs typeface="Calibri" pitchFamily="34" charset="-120"/>
              </a:rPr>
              <a:t>Shots on target correlate far more strongly with goals scored (0.59) than raw shot volume.</a:t>
            </a:r>
            <a:endParaRPr lang="en-US" sz="1150" dirty="0"/>
          </a:p>
        </p:txBody>
      </p:sp>
      <p:sp>
        <p:nvSpPr>
          <p:cNvPr id="14" name="Shape 12"/>
          <p:cNvSpPr/>
          <p:nvPr/>
        </p:nvSpPr>
        <p:spPr>
          <a:xfrm>
            <a:off x="548640" y="4114800"/>
            <a:ext cx="5349240" cy="2331720"/>
          </a:xfrm>
          <a:prstGeom prst="rect">
            <a:avLst/>
          </a:prstGeom>
          <a:solidFill>
            <a:srgbClr val="223E68"/>
          </a:solidFill>
          <a:ln/>
        </p:spPr>
      </p:sp>
      <p:sp>
        <p:nvSpPr>
          <p:cNvPr id="15" name="Shape 13"/>
          <p:cNvSpPr/>
          <p:nvPr/>
        </p:nvSpPr>
        <p:spPr>
          <a:xfrm>
            <a:off x="822960" y="4389120"/>
            <a:ext cx="502920" cy="502920"/>
          </a:xfrm>
          <a:prstGeom prst="ellipse">
            <a:avLst/>
          </a:prstGeom>
          <a:solidFill>
            <a:srgbClr val="F5A623"/>
          </a:solidFill>
          <a:ln/>
        </p:spPr>
      </p:sp>
      <p:sp>
        <p:nvSpPr>
          <p:cNvPr id="16" name="Text 14"/>
          <p:cNvSpPr/>
          <p:nvPr/>
        </p:nvSpPr>
        <p:spPr>
          <a:xfrm>
            <a:off x="822960" y="4389120"/>
            <a:ext cx="502920" cy="502920"/>
          </a:xfrm>
          <a:prstGeom prst="rect">
            <a:avLst/>
          </a:prstGeom>
          <a:noFill/>
          <a:ln/>
        </p:spPr>
        <p:txBody>
          <a:bodyPr wrap="square" rtlCol="0" anchor="ctr"/>
          <a:lstStyle/>
          <a:p>
            <a:pPr algn="ctr" indent="0" marL="0">
              <a:buNone/>
            </a:pPr>
            <a:r>
              <a:rPr lang="en-US" sz="2000" b="1" dirty="0">
                <a:solidFill>
                  <a:srgbClr val="12233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508760" y="4370832"/>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Dot-Ball Dominance</a:t>
            </a:r>
            <a:endParaRPr lang="en-US" sz="1500" dirty="0"/>
          </a:p>
        </p:txBody>
      </p:sp>
      <p:sp>
        <p:nvSpPr>
          <p:cNvPr id="18" name="Text 16"/>
          <p:cNvSpPr/>
          <p:nvPr/>
        </p:nvSpPr>
        <p:spPr>
          <a:xfrm>
            <a:off x="1508760" y="4864608"/>
            <a:ext cx="4114800" cy="1417320"/>
          </a:xfrm>
          <a:prstGeom prst="rect">
            <a:avLst/>
          </a:prstGeom>
          <a:noFill/>
          <a:ln/>
        </p:spPr>
        <p:txBody>
          <a:bodyPr wrap="square" rtlCol="0" anchor="ctr"/>
          <a:lstStyle/>
          <a:p>
            <a:pPr indent="0" marL="0">
              <a:lnSpc>
                <a:spcPct val="130000"/>
              </a:lnSpc>
              <a:buNone/>
            </a:pPr>
            <a:r>
              <a:rPr lang="en-US" sz="1150" dirty="0">
                <a:solidFill>
                  <a:srgbClr val="9FB3CC"/>
                </a:solidFill>
                <a:latin typeface="Calibri" pitchFamily="34" charset="0"/>
                <a:ea typeface="Calibri" pitchFamily="34" charset="-122"/>
                <a:cs typeface="Calibri" pitchFamily="34" charset="-120"/>
              </a:rPr>
              <a:t>77% of IPL deliveries yield 0 or 1 run — run-rate features must capture accumulation, not just boundaries.</a:t>
            </a:r>
            <a:endParaRPr lang="en-US" sz="1150" dirty="0"/>
          </a:p>
        </p:txBody>
      </p:sp>
      <p:sp>
        <p:nvSpPr>
          <p:cNvPr id="19" name="Shape 17"/>
          <p:cNvSpPr/>
          <p:nvPr/>
        </p:nvSpPr>
        <p:spPr>
          <a:xfrm>
            <a:off x="6217920" y="4114800"/>
            <a:ext cx="5349240" cy="2331720"/>
          </a:xfrm>
          <a:prstGeom prst="rect">
            <a:avLst/>
          </a:prstGeom>
          <a:solidFill>
            <a:srgbClr val="223E68"/>
          </a:solidFill>
          <a:ln/>
        </p:spPr>
      </p:sp>
      <p:sp>
        <p:nvSpPr>
          <p:cNvPr id="20" name="Shape 18"/>
          <p:cNvSpPr/>
          <p:nvPr/>
        </p:nvSpPr>
        <p:spPr>
          <a:xfrm>
            <a:off x="6492240" y="4389120"/>
            <a:ext cx="502920" cy="502920"/>
          </a:xfrm>
          <a:prstGeom prst="ellipse">
            <a:avLst/>
          </a:prstGeom>
          <a:solidFill>
            <a:srgbClr val="F5A623"/>
          </a:solidFill>
          <a:ln/>
        </p:spPr>
      </p:sp>
      <p:sp>
        <p:nvSpPr>
          <p:cNvPr id="21" name="Text 19"/>
          <p:cNvSpPr/>
          <p:nvPr/>
        </p:nvSpPr>
        <p:spPr>
          <a:xfrm>
            <a:off x="6492240" y="4389120"/>
            <a:ext cx="502920" cy="502920"/>
          </a:xfrm>
          <a:prstGeom prst="rect">
            <a:avLst/>
          </a:prstGeom>
          <a:noFill/>
          <a:ln/>
        </p:spPr>
        <p:txBody>
          <a:bodyPr wrap="square" rtlCol="0" anchor="ctr"/>
          <a:lstStyle/>
          <a:p>
            <a:pPr algn="ctr" indent="0" marL="0">
              <a:buNone/>
            </a:pPr>
            <a:r>
              <a:rPr lang="en-US" sz="2000" b="1" dirty="0">
                <a:solidFill>
                  <a:srgbClr val="12233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178040" y="4370832"/>
            <a:ext cx="411480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Fielding Drives Wickets</a:t>
            </a:r>
            <a:endParaRPr lang="en-US" sz="1500" dirty="0"/>
          </a:p>
        </p:txBody>
      </p:sp>
      <p:sp>
        <p:nvSpPr>
          <p:cNvPr id="23" name="Text 21"/>
          <p:cNvSpPr/>
          <p:nvPr/>
        </p:nvSpPr>
        <p:spPr>
          <a:xfrm>
            <a:off x="7178040" y="4864608"/>
            <a:ext cx="4114800" cy="1417320"/>
          </a:xfrm>
          <a:prstGeom prst="rect">
            <a:avLst/>
          </a:prstGeom>
          <a:noFill/>
          <a:ln/>
        </p:spPr>
        <p:txBody>
          <a:bodyPr wrap="square" rtlCol="0" anchor="ctr"/>
          <a:lstStyle/>
          <a:p>
            <a:pPr indent="0" marL="0">
              <a:lnSpc>
                <a:spcPct val="130000"/>
              </a:lnSpc>
              <a:buNone/>
            </a:pPr>
            <a:r>
              <a:rPr lang="en-US" sz="1150" dirty="0">
                <a:solidFill>
                  <a:srgbClr val="9FB3CC"/>
                </a:solidFill>
                <a:latin typeface="Calibri" pitchFamily="34" charset="0"/>
                <a:ea typeface="Calibri" pitchFamily="34" charset="-122"/>
                <a:cs typeface="Calibri" pitchFamily="34" charset="-120"/>
              </a:rPr>
              <a:t>62% of dismissals are catches, making fielding-side strength a key cricket feature.</a:t>
            </a:r>
            <a:endParaRPr lang="en-US" sz="1150" dirty="0"/>
          </a:p>
        </p:txBody>
      </p:sp>
      <p:sp>
        <p:nvSpPr>
          <p:cNvPr id="24" name="Text 22"/>
          <p:cNvSpPr/>
          <p:nvPr/>
        </p:nvSpPr>
        <p:spPr>
          <a:xfrm>
            <a:off x="548640" y="6510528"/>
            <a:ext cx="7315200" cy="274320"/>
          </a:xfrm>
          <a:prstGeom prst="rect">
            <a:avLst/>
          </a:prstGeom>
          <a:noFill/>
          <a:ln/>
        </p:spPr>
        <p:txBody>
          <a:bodyPr wrap="square" rtlCol="0" anchor="ctr"/>
          <a:lstStyle/>
          <a:p>
            <a:pPr indent="0" marL="0">
              <a:buNone/>
            </a:pPr>
            <a:r>
              <a:rPr lang="en-US" sz="900" dirty="0">
                <a:solidFill>
                  <a:srgbClr val="9FB3CC"/>
                </a:solidFill>
                <a:latin typeface="Calibri" pitchFamily="34" charset="0"/>
                <a:ea typeface="Calibri" pitchFamily="34" charset="-122"/>
                <a:cs typeface="Calibri" pitchFamily="34" charset="-120"/>
              </a:rPr>
              <a:t>Match Outcome Prediction — Cricket &amp; Football</a:t>
            </a:r>
            <a:endParaRPr lang="en-US" sz="900" dirty="0"/>
          </a:p>
        </p:txBody>
      </p:sp>
      <p:sp>
        <p:nvSpPr>
          <p:cNvPr id="25" name="Text 23"/>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9FB3C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F5A623"/>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621792"/>
            <a:ext cx="9144000" cy="502920"/>
          </a:xfrm>
          <a:prstGeom prst="rect">
            <a:avLst/>
          </a:prstGeom>
          <a:noFill/>
          <a:ln/>
        </p:spPr>
        <p:txBody>
          <a:bodyPr wrap="square" rtlCol="0" anchor="ctr"/>
          <a:lstStyle/>
          <a:p>
            <a:pPr indent="0" marL="0">
              <a:buNone/>
            </a:pPr>
            <a:r>
              <a:rPr lang="en-US" sz="2800" b="1" dirty="0">
                <a:solidFill>
                  <a:srgbClr val="12233F"/>
                </a:solidFill>
                <a:latin typeface="Cambria" pitchFamily="34" charset="0"/>
                <a:ea typeface="Cambria" pitchFamily="34" charset="-122"/>
                <a:cs typeface="Cambria" pitchFamily="34" charset="-120"/>
              </a:rPr>
              <a:t>Conclusion &amp; Next Steps</a:t>
            </a:r>
            <a:endParaRPr lang="en-US" sz="2800" dirty="0"/>
          </a:p>
        </p:txBody>
      </p:sp>
      <p:sp>
        <p:nvSpPr>
          <p:cNvPr id="4" name="Text 2"/>
          <p:cNvSpPr/>
          <p:nvPr/>
        </p:nvSpPr>
        <p:spPr>
          <a:xfrm>
            <a:off x="548640" y="1280160"/>
            <a:ext cx="11064240" cy="960120"/>
          </a:xfrm>
          <a:prstGeom prst="rect">
            <a:avLst/>
          </a:prstGeom>
          <a:noFill/>
          <a:ln/>
        </p:spPr>
        <p:txBody>
          <a:bodyPr wrap="square" rtlCol="0" anchor="ctr"/>
          <a:lstStyle/>
          <a:p>
            <a:pPr indent="0" marL="0">
              <a:lnSpc>
                <a:spcPct val="130000"/>
              </a:lnSpc>
              <a:buNone/>
            </a:pPr>
            <a:r>
              <a:rPr lang="en-US" sz="1350" dirty="0">
                <a:solidFill>
                  <a:srgbClr val="12233F"/>
                </a:solidFill>
                <a:latin typeface="Calibri" pitchFamily="34" charset="0"/>
                <a:ea typeface="Calibri" pitchFamily="34" charset="-122"/>
                <a:cs typeface="Calibri" pitchFamily="34" charset="-120"/>
              </a:rPr>
              <a:t>This project demonstrates how combining Random Forest's interpretability with ANN's pattern-recognition strength can build a dependable, multi-sport outcome-prediction system. Initial EDA on the EPL and IPL datasets clarifies the features and imbalances that will guide model design.</a:t>
            </a:r>
            <a:endParaRPr lang="en-US" sz="1350" dirty="0"/>
          </a:p>
        </p:txBody>
      </p:sp>
      <p:sp>
        <p:nvSpPr>
          <p:cNvPr id="5" name="Shape 3"/>
          <p:cNvSpPr/>
          <p:nvPr/>
        </p:nvSpPr>
        <p:spPr>
          <a:xfrm>
            <a:off x="548640" y="2560320"/>
            <a:ext cx="457200" cy="457200"/>
          </a:xfrm>
          <a:prstGeom prst="ellipse">
            <a:avLst/>
          </a:prstGeom>
          <a:solidFill>
            <a:srgbClr val="12233F"/>
          </a:solidFill>
          <a:ln/>
        </p:spPr>
      </p:sp>
      <p:sp>
        <p:nvSpPr>
          <p:cNvPr id="6" name="Text 4"/>
          <p:cNvSpPr/>
          <p:nvPr/>
        </p:nvSpPr>
        <p:spPr>
          <a:xfrm>
            <a:off x="548640" y="2560320"/>
            <a:ext cx="457200" cy="457200"/>
          </a:xfrm>
          <a:prstGeom prst="rect">
            <a:avLst/>
          </a:prstGeom>
          <a:noFill/>
          <a:ln/>
        </p:spPr>
        <p:txBody>
          <a:bodyPr wrap="square"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34440" y="2560320"/>
            <a:ext cx="10332720" cy="457200"/>
          </a:xfrm>
          <a:prstGeom prst="rect">
            <a:avLst/>
          </a:prstGeom>
          <a:noFill/>
          <a:ln/>
        </p:spPr>
        <p:txBody>
          <a:bodyPr wrap="square" rtlCol="0" anchor="ctr"/>
          <a:lstStyle/>
          <a:p>
            <a:pPr indent="0" marL="0">
              <a:buNone/>
            </a:pPr>
            <a:r>
              <a:rPr lang="en-US" sz="1400" dirty="0">
                <a:solidFill>
                  <a:srgbClr val="12233F"/>
                </a:solidFill>
                <a:latin typeface="Calibri" pitchFamily="34" charset="0"/>
                <a:ea typeface="Calibri" pitchFamily="34" charset="-122"/>
                <a:cs typeface="Calibri" pitchFamily="34" charset="-120"/>
              </a:rPr>
              <a:t>Engineer features from team form, shot/wicket statistics, and venue factors</a:t>
            </a:r>
            <a:endParaRPr lang="en-US" sz="1400" dirty="0"/>
          </a:p>
        </p:txBody>
      </p:sp>
      <p:sp>
        <p:nvSpPr>
          <p:cNvPr id="8" name="Shape 6"/>
          <p:cNvSpPr/>
          <p:nvPr/>
        </p:nvSpPr>
        <p:spPr>
          <a:xfrm>
            <a:off x="548640" y="3108960"/>
            <a:ext cx="10881360" cy="10973"/>
          </a:xfrm>
          <a:prstGeom prst="rect">
            <a:avLst/>
          </a:prstGeom>
          <a:solidFill>
            <a:srgbClr val="C9D6E8"/>
          </a:solidFill>
          <a:ln/>
        </p:spPr>
      </p:sp>
      <p:sp>
        <p:nvSpPr>
          <p:cNvPr id="9" name="Shape 7"/>
          <p:cNvSpPr/>
          <p:nvPr/>
        </p:nvSpPr>
        <p:spPr>
          <a:xfrm>
            <a:off x="548640" y="3337560"/>
            <a:ext cx="457200" cy="457200"/>
          </a:xfrm>
          <a:prstGeom prst="ellipse">
            <a:avLst/>
          </a:prstGeom>
          <a:solidFill>
            <a:srgbClr val="12233F"/>
          </a:solidFill>
          <a:ln/>
        </p:spPr>
      </p:sp>
      <p:sp>
        <p:nvSpPr>
          <p:cNvPr id="10" name="Text 8"/>
          <p:cNvSpPr/>
          <p:nvPr/>
        </p:nvSpPr>
        <p:spPr>
          <a:xfrm>
            <a:off x="548640" y="3337560"/>
            <a:ext cx="457200" cy="457200"/>
          </a:xfrm>
          <a:prstGeom prst="rect">
            <a:avLst/>
          </a:prstGeom>
          <a:noFill/>
          <a:ln/>
        </p:spPr>
        <p:txBody>
          <a:bodyPr wrap="square"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234440" y="3337560"/>
            <a:ext cx="10332720" cy="457200"/>
          </a:xfrm>
          <a:prstGeom prst="rect">
            <a:avLst/>
          </a:prstGeom>
          <a:noFill/>
          <a:ln/>
        </p:spPr>
        <p:txBody>
          <a:bodyPr wrap="square" rtlCol="0" anchor="ctr"/>
          <a:lstStyle/>
          <a:p>
            <a:pPr indent="0" marL="0">
              <a:buNone/>
            </a:pPr>
            <a:r>
              <a:rPr lang="en-US" sz="1400" dirty="0">
                <a:solidFill>
                  <a:srgbClr val="12233F"/>
                </a:solidFill>
                <a:latin typeface="Calibri" pitchFamily="34" charset="0"/>
                <a:ea typeface="Calibri" pitchFamily="34" charset="-122"/>
                <a:cs typeface="Calibri" pitchFamily="34" charset="-120"/>
              </a:rPr>
              <a:t>Train the Random Forest baseline and extract feature importances</a:t>
            </a:r>
            <a:endParaRPr lang="en-US" sz="1400" dirty="0"/>
          </a:p>
        </p:txBody>
      </p:sp>
      <p:sp>
        <p:nvSpPr>
          <p:cNvPr id="12" name="Shape 10"/>
          <p:cNvSpPr/>
          <p:nvPr/>
        </p:nvSpPr>
        <p:spPr>
          <a:xfrm>
            <a:off x="548640" y="3886200"/>
            <a:ext cx="10881360" cy="10973"/>
          </a:xfrm>
          <a:prstGeom prst="rect">
            <a:avLst/>
          </a:prstGeom>
          <a:solidFill>
            <a:srgbClr val="C9D6E8"/>
          </a:solidFill>
          <a:ln/>
        </p:spPr>
      </p:sp>
      <p:sp>
        <p:nvSpPr>
          <p:cNvPr id="13" name="Shape 11"/>
          <p:cNvSpPr/>
          <p:nvPr/>
        </p:nvSpPr>
        <p:spPr>
          <a:xfrm>
            <a:off x="548640" y="4114800"/>
            <a:ext cx="457200" cy="457200"/>
          </a:xfrm>
          <a:prstGeom prst="ellipse">
            <a:avLst/>
          </a:prstGeom>
          <a:solidFill>
            <a:srgbClr val="12233F"/>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234440" y="4114800"/>
            <a:ext cx="10332720" cy="457200"/>
          </a:xfrm>
          <a:prstGeom prst="rect">
            <a:avLst/>
          </a:prstGeom>
          <a:noFill/>
          <a:ln/>
        </p:spPr>
        <p:txBody>
          <a:bodyPr wrap="square" rtlCol="0" anchor="ctr"/>
          <a:lstStyle/>
          <a:p>
            <a:pPr indent="0" marL="0">
              <a:buNone/>
            </a:pPr>
            <a:r>
              <a:rPr lang="en-US" sz="1400" dirty="0">
                <a:solidFill>
                  <a:srgbClr val="12233F"/>
                </a:solidFill>
                <a:latin typeface="Calibri" pitchFamily="34" charset="0"/>
                <a:ea typeface="Calibri" pitchFamily="34" charset="-122"/>
                <a:cs typeface="Calibri" pitchFamily="34" charset="-120"/>
              </a:rPr>
              <a:t>Train the ANN on the same feature set to capture non-linear patterns</a:t>
            </a:r>
            <a:endParaRPr lang="en-US" sz="1400" dirty="0"/>
          </a:p>
        </p:txBody>
      </p:sp>
      <p:sp>
        <p:nvSpPr>
          <p:cNvPr id="16" name="Shape 14"/>
          <p:cNvSpPr/>
          <p:nvPr/>
        </p:nvSpPr>
        <p:spPr>
          <a:xfrm>
            <a:off x="548640" y="4663440"/>
            <a:ext cx="10881360" cy="10973"/>
          </a:xfrm>
          <a:prstGeom prst="rect">
            <a:avLst/>
          </a:prstGeom>
          <a:solidFill>
            <a:srgbClr val="C9D6E8"/>
          </a:solidFill>
          <a:ln/>
        </p:spPr>
      </p:sp>
      <p:sp>
        <p:nvSpPr>
          <p:cNvPr id="17" name="Shape 15"/>
          <p:cNvSpPr/>
          <p:nvPr/>
        </p:nvSpPr>
        <p:spPr>
          <a:xfrm>
            <a:off x="548640" y="4892040"/>
            <a:ext cx="457200" cy="457200"/>
          </a:xfrm>
          <a:prstGeom prst="ellipse">
            <a:avLst/>
          </a:prstGeom>
          <a:solidFill>
            <a:srgbClr val="12233F"/>
          </a:solidFill>
          <a:ln/>
        </p:spPr>
      </p:sp>
      <p:sp>
        <p:nvSpPr>
          <p:cNvPr id="18" name="Text 16"/>
          <p:cNvSpPr/>
          <p:nvPr/>
        </p:nvSpPr>
        <p:spPr>
          <a:xfrm>
            <a:off x="548640" y="4892040"/>
            <a:ext cx="457200" cy="457200"/>
          </a:xfrm>
          <a:prstGeom prst="rect">
            <a:avLst/>
          </a:prstGeom>
          <a:noFill/>
          <a:ln/>
        </p:spPr>
        <p:txBody>
          <a:bodyPr wrap="square"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234440" y="4892040"/>
            <a:ext cx="10332720" cy="457200"/>
          </a:xfrm>
          <a:prstGeom prst="rect">
            <a:avLst/>
          </a:prstGeom>
          <a:noFill/>
          <a:ln/>
        </p:spPr>
        <p:txBody>
          <a:bodyPr wrap="square" rtlCol="0" anchor="ctr"/>
          <a:lstStyle/>
          <a:p>
            <a:pPr indent="0" marL="0">
              <a:buNone/>
            </a:pPr>
            <a:r>
              <a:rPr lang="en-US" sz="1400" dirty="0">
                <a:solidFill>
                  <a:srgbClr val="12233F"/>
                </a:solidFill>
                <a:latin typeface="Calibri" pitchFamily="34" charset="0"/>
                <a:ea typeface="Calibri" pitchFamily="34" charset="-122"/>
                <a:cs typeface="Calibri" pitchFamily="34" charset="-120"/>
              </a:rPr>
              <a:t>Evaluate and compare both models using accuracy, precision, recall &amp; F1-score</a:t>
            </a:r>
            <a:endParaRPr lang="en-US" sz="1400" dirty="0"/>
          </a:p>
        </p:txBody>
      </p:sp>
      <p:sp>
        <p:nvSpPr>
          <p:cNvPr id="20" name="Text 18"/>
          <p:cNvSpPr/>
          <p:nvPr/>
        </p:nvSpPr>
        <p:spPr>
          <a:xfrm>
            <a:off x="457200" y="6510528"/>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Match Outcome Prediction — Cricket &amp; Football</a:t>
            </a:r>
            <a:endParaRPr lang="en-US" sz="900" dirty="0"/>
          </a:p>
        </p:txBody>
      </p:sp>
      <p:sp>
        <p:nvSpPr>
          <p:cNvPr id="21" name="Text 19"/>
          <p:cNvSpPr/>
          <p:nvPr/>
        </p:nvSpPr>
        <p:spPr>
          <a:xfrm>
            <a:off x="11365992" y="6510528"/>
            <a:ext cx="36576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B3A63">
              <a:alpha val="60000"/>
            </a:srgbClr>
          </a:solidFill>
          <a:ln/>
        </p:spPr>
      </p:sp>
      <p:sp>
        <p:nvSpPr>
          <p:cNvPr id="3" name="Shape 1"/>
          <p:cNvSpPr/>
          <p:nvPr/>
        </p:nvSpPr>
        <p:spPr>
          <a:xfrm>
            <a:off x="10607040" y="4206240"/>
            <a:ext cx="3108960" cy="3108960"/>
          </a:xfrm>
          <a:prstGeom prst="ellipse">
            <a:avLst/>
          </a:prstGeom>
          <a:solidFill>
            <a:srgbClr val="223E68">
              <a:alpha val="55000"/>
            </a:srgbClr>
          </a:solidFill>
          <a:ln/>
        </p:spPr>
      </p:sp>
      <p:sp>
        <p:nvSpPr>
          <p:cNvPr id="4" name="Text 2"/>
          <p:cNvSpPr/>
          <p:nvPr/>
        </p:nvSpPr>
        <p:spPr>
          <a:xfrm>
            <a:off x="640080" y="2651760"/>
            <a:ext cx="73152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640080" y="3520440"/>
            <a:ext cx="7315200" cy="457200"/>
          </a:xfrm>
          <a:prstGeom prst="rect">
            <a:avLst/>
          </a:prstGeom>
          <a:noFill/>
          <a:ln/>
        </p:spPr>
        <p:txBody>
          <a:bodyPr wrap="square"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Questions &amp; Discussion Welcome</a:t>
            </a:r>
            <a:endParaRPr lang="en-US" sz="1600" dirty="0"/>
          </a:p>
        </p:txBody>
      </p:sp>
      <p:sp>
        <p:nvSpPr>
          <p:cNvPr id="6" name="Text 4"/>
          <p:cNvSpPr/>
          <p:nvPr/>
        </p:nvSpPr>
        <p:spPr>
          <a:xfrm>
            <a:off x="640080" y="4846320"/>
            <a:ext cx="54864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Rapaka Rithwik</a:t>
            </a:r>
            <a:endParaRPr lang="en-US" sz="1300" dirty="0"/>
          </a:p>
        </p:txBody>
      </p:sp>
      <p:sp>
        <p:nvSpPr>
          <p:cNvPr id="7" name="Text 5"/>
          <p:cNvSpPr/>
          <p:nvPr/>
        </p:nvSpPr>
        <p:spPr>
          <a:xfrm>
            <a:off x="640080" y="5212080"/>
            <a:ext cx="7315200" cy="365760"/>
          </a:xfrm>
          <a:prstGeom prst="rect">
            <a:avLst/>
          </a:prstGeom>
          <a:noFill/>
          <a:ln/>
        </p:spPr>
        <p:txBody>
          <a:bodyPr wrap="square" rtlCol="0" anchor="ctr"/>
          <a:lstStyle/>
          <a:p>
            <a:pPr indent="0" marL="0">
              <a:buNone/>
            </a:pPr>
            <a:r>
              <a:rPr lang="en-US" sz="1200" dirty="0">
                <a:solidFill>
                  <a:srgbClr val="9FB3CC"/>
                </a:solidFill>
                <a:latin typeface="Calibri" pitchFamily="34" charset="0"/>
                <a:ea typeface="Calibri" pitchFamily="34" charset="-122"/>
                <a:cs typeface="Calibri" pitchFamily="34" charset="-120"/>
              </a:rPr>
              <a:t>Guided by Dr. Jyothsna Datti, Professor, CSE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2026-08-25T06:34:52Z</dcterms:created>
  <dcterms:modified xsi:type="dcterms:W3CDTF">2026-08-25T06:34:52Z</dcterms:modified>
</cp:coreProperties>
</file>